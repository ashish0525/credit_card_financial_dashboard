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68" r:id="rId3"/>
    <p:sldId id="257" r:id="rId4"/>
    <p:sldId id="258" r:id="rId5"/>
    <p:sldId id="259" r:id="rId6"/>
    <p:sldId id="267" r:id="rId7"/>
    <p:sldId id="261" r:id="rId8"/>
    <p:sldId id="262" r:id="rId9"/>
    <p:sldId id="263" r:id="rId10"/>
    <p:sldId id="264" r:id="rId11"/>
    <p:sldId id="269" r:id="rId12"/>
    <p:sldId id="265" r:id="rId13"/>
    <p:sldId id="270" r:id="rId14"/>
    <p:sldId id="271" r:id="rId15"/>
    <p:sldId id="272" r:id="rId16"/>
    <p:sldId id="273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561058-04AC-4992-814B-36369354ADE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834902-A29E-4348-8DB5-A9BF0DF09FBF}">
      <dgm:prSet/>
      <dgm:spPr/>
      <dgm:t>
        <a:bodyPr/>
        <a:lstStyle/>
        <a:p>
          <a:r>
            <a:rPr lang="en-IN"/>
            <a:t>Q1 Revenue: $14M | 163K Transactions</a:t>
          </a:r>
          <a:endParaRPr lang="en-US"/>
        </a:p>
      </dgm:t>
    </dgm:pt>
    <dgm:pt modelId="{59C881AD-AE1D-4A2F-B365-0D9E9B1E93AD}" type="parTrans" cxnId="{74D666BA-0519-4328-AAC2-66C115682B19}">
      <dgm:prSet/>
      <dgm:spPr/>
      <dgm:t>
        <a:bodyPr/>
        <a:lstStyle/>
        <a:p>
          <a:endParaRPr lang="en-US"/>
        </a:p>
      </dgm:t>
    </dgm:pt>
    <dgm:pt modelId="{B394CD10-7B1F-407F-A6BA-D0699F6FDAD6}" type="sibTrans" cxnId="{74D666BA-0519-4328-AAC2-66C115682B19}">
      <dgm:prSet/>
      <dgm:spPr/>
      <dgm:t>
        <a:bodyPr/>
        <a:lstStyle/>
        <a:p>
          <a:endParaRPr lang="en-US"/>
        </a:p>
      </dgm:t>
    </dgm:pt>
    <dgm:pt modelId="{FD0FD768-5910-4E5D-BE98-42FB825AD376}">
      <dgm:prSet/>
      <dgm:spPr/>
      <dgm:t>
        <a:bodyPr/>
        <a:lstStyle/>
        <a:p>
          <a:r>
            <a:rPr lang="en-IN"/>
            <a:t>Q2 Revenue: $14M | 162K Transactions</a:t>
          </a:r>
          <a:endParaRPr lang="en-US"/>
        </a:p>
      </dgm:t>
    </dgm:pt>
    <dgm:pt modelId="{D274CC69-103B-4C75-A1EF-A1B3C36CED24}" type="parTrans" cxnId="{94A0D331-81E3-4D11-A96C-205C0D019231}">
      <dgm:prSet/>
      <dgm:spPr/>
      <dgm:t>
        <a:bodyPr/>
        <a:lstStyle/>
        <a:p>
          <a:endParaRPr lang="en-US"/>
        </a:p>
      </dgm:t>
    </dgm:pt>
    <dgm:pt modelId="{48414632-CAA5-4CEC-9987-8E2E8A097904}" type="sibTrans" cxnId="{94A0D331-81E3-4D11-A96C-205C0D019231}">
      <dgm:prSet/>
      <dgm:spPr/>
      <dgm:t>
        <a:bodyPr/>
        <a:lstStyle/>
        <a:p>
          <a:endParaRPr lang="en-US"/>
        </a:p>
      </dgm:t>
    </dgm:pt>
    <dgm:pt modelId="{E83A4389-E7CA-4630-AF48-4E0F68E8BE75}">
      <dgm:prSet/>
      <dgm:spPr/>
      <dgm:t>
        <a:bodyPr/>
        <a:lstStyle/>
        <a:p>
          <a:r>
            <a:rPr lang="en-IN"/>
            <a:t>Q3 Revenue: $14M | 167K Transactions</a:t>
          </a:r>
          <a:endParaRPr lang="en-US"/>
        </a:p>
      </dgm:t>
    </dgm:pt>
    <dgm:pt modelId="{2E7C443B-2FAF-4A8E-AB2B-912805926D1D}" type="parTrans" cxnId="{73B0CE8E-254A-4A5C-B0B6-801ECC613A8E}">
      <dgm:prSet/>
      <dgm:spPr/>
      <dgm:t>
        <a:bodyPr/>
        <a:lstStyle/>
        <a:p>
          <a:endParaRPr lang="en-US"/>
        </a:p>
      </dgm:t>
    </dgm:pt>
    <dgm:pt modelId="{ACFB0297-B927-4DCD-97CD-F4C1DBB2A351}" type="sibTrans" cxnId="{73B0CE8E-254A-4A5C-B0B6-801ECC613A8E}">
      <dgm:prSet/>
      <dgm:spPr/>
      <dgm:t>
        <a:bodyPr/>
        <a:lstStyle/>
        <a:p>
          <a:endParaRPr lang="en-US"/>
        </a:p>
      </dgm:t>
    </dgm:pt>
    <dgm:pt modelId="{D8B7B894-BEC5-4749-9CE7-DD1965826FFD}">
      <dgm:prSet/>
      <dgm:spPr/>
      <dgm:t>
        <a:bodyPr/>
        <a:lstStyle/>
        <a:p>
          <a:r>
            <a:rPr lang="en-IN"/>
            <a:t>Q4 Revenue: $13M | 164K Transactions</a:t>
          </a:r>
          <a:endParaRPr lang="en-US"/>
        </a:p>
      </dgm:t>
    </dgm:pt>
    <dgm:pt modelId="{0E24746F-C5F8-461E-99B3-6D7BC3BD814B}" type="parTrans" cxnId="{C422EDC1-6F91-4C68-AF16-3DCC462B6E8C}">
      <dgm:prSet/>
      <dgm:spPr/>
      <dgm:t>
        <a:bodyPr/>
        <a:lstStyle/>
        <a:p>
          <a:endParaRPr lang="en-US"/>
        </a:p>
      </dgm:t>
    </dgm:pt>
    <dgm:pt modelId="{F2AEA52E-4C6D-4146-BEDA-7AA767C0B2F0}" type="sibTrans" cxnId="{C422EDC1-6F91-4C68-AF16-3DCC462B6E8C}">
      <dgm:prSet/>
      <dgm:spPr/>
      <dgm:t>
        <a:bodyPr/>
        <a:lstStyle/>
        <a:p>
          <a:endParaRPr lang="en-US"/>
        </a:p>
      </dgm:t>
    </dgm:pt>
    <dgm:pt modelId="{56B7481C-21DA-43A6-8979-0349ABB31E0C}">
      <dgm:prSet/>
      <dgm:spPr/>
      <dgm:t>
        <a:bodyPr/>
        <a:lstStyle/>
        <a:p>
          <a:r>
            <a:rPr lang="en-IN"/>
            <a:t>Minor dip in Q4 indicates possible seasonal effects or moderated post-festive spending.</a:t>
          </a:r>
          <a:endParaRPr lang="en-US"/>
        </a:p>
      </dgm:t>
    </dgm:pt>
    <dgm:pt modelId="{AA547260-7DEF-4B18-AD29-3CF046460059}" type="parTrans" cxnId="{F874A159-4004-450C-A75E-036235A5749C}">
      <dgm:prSet/>
      <dgm:spPr/>
      <dgm:t>
        <a:bodyPr/>
        <a:lstStyle/>
        <a:p>
          <a:endParaRPr lang="en-US"/>
        </a:p>
      </dgm:t>
    </dgm:pt>
    <dgm:pt modelId="{26A0DECA-D584-40B4-98B1-220DE14CEFF3}" type="sibTrans" cxnId="{F874A159-4004-450C-A75E-036235A5749C}">
      <dgm:prSet/>
      <dgm:spPr/>
      <dgm:t>
        <a:bodyPr/>
        <a:lstStyle/>
        <a:p>
          <a:endParaRPr lang="en-US"/>
        </a:p>
      </dgm:t>
    </dgm:pt>
    <dgm:pt modelId="{6D38933B-70EE-42B7-8888-D7F736136F4E}" type="pres">
      <dgm:prSet presAssocID="{B9561058-04AC-4992-814B-36369354ADEC}" presName="vert0" presStyleCnt="0">
        <dgm:presLayoutVars>
          <dgm:dir/>
          <dgm:animOne val="branch"/>
          <dgm:animLvl val="lvl"/>
        </dgm:presLayoutVars>
      </dgm:prSet>
      <dgm:spPr/>
    </dgm:pt>
    <dgm:pt modelId="{39F15211-3DE4-45A1-B42F-98B3EB18F0D1}" type="pres">
      <dgm:prSet presAssocID="{C4834902-A29E-4348-8DB5-A9BF0DF09FBF}" presName="thickLine" presStyleLbl="alignNode1" presStyleIdx="0" presStyleCnt="5"/>
      <dgm:spPr/>
    </dgm:pt>
    <dgm:pt modelId="{54F187A7-438D-4300-B572-6F6CECCD0FA4}" type="pres">
      <dgm:prSet presAssocID="{C4834902-A29E-4348-8DB5-A9BF0DF09FBF}" presName="horz1" presStyleCnt="0"/>
      <dgm:spPr/>
    </dgm:pt>
    <dgm:pt modelId="{C430DAD4-3952-491E-8BF8-216B74D94851}" type="pres">
      <dgm:prSet presAssocID="{C4834902-A29E-4348-8DB5-A9BF0DF09FBF}" presName="tx1" presStyleLbl="revTx" presStyleIdx="0" presStyleCnt="5"/>
      <dgm:spPr/>
    </dgm:pt>
    <dgm:pt modelId="{7024C8D9-065C-4A71-9487-E9BD208D370C}" type="pres">
      <dgm:prSet presAssocID="{C4834902-A29E-4348-8DB5-A9BF0DF09FBF}" presName="vert1" presStyleCnt="0"/>
      <dgm:spPr/>
    </dgm:pt>
    <dgm:pt modelId="{47E5B87A-668E-4BE7-9940-29735817D816}" type="pres">
      <dgm:prSet presAssocID="{FD0FD768-5910-4E5D-BE98-42FB825AD376}" presName="thickLine" presStyleLbl="alignNode1" presStyleIdx="1" presStyleCnt="5"/>
      <dgm:spPr/>
    </dgm:pt>
    <dgm:pt modelId="{3E8EFE47-DF21-4833-9862-A94C72BD4C13}" type="pres">
      <dgm:prSet presAssocID="{FD0FD768-5910-4E5D-BE98-42FB825AD376}" presName="horz1" presStyleCnt="0"/>
      <dgm:spPr/>
    </dgm:pt>
    <dgm:pt modelId="{BAE25078-6E6C-4A1D-8EEB-37DD4CDCFF27}" type="pres">
      <dgm:prSet presAssocID="{FD0FD768-5910-4E5D-BE98-42FB825AD376}" presName="tx1" presStyleLbl="revTx" presStyleIdx="1" presStyleCnt="5"/>
      <dgm:spPr/>
    </dgm:pt>
    <dgm:pt modelId="{DB8903F1-BFA5-4A11-B8AD-91BC44ED118F}" type="pres">
      <dgm:prSet presAssocID="{FD0FD768-5910-4E5D-BE98-42FB825AD376}" presName="vert1" presStyleCnt="0"/>
      <dgm:spPr/>
    </dgm:pt>
    <dgm:pt modelId="{A9BBDE66-51AB-4521-98E1-80EF079332E1}" type="pres">
      <dgm:prSet presAssocID="{E83A4389-E7CA-4630-AF48-4E0F68E8BE75}" presName="thickLine" presStyleLbl="alignNode1" presStyleIdx="2" presStyleCnt="5"/>
      <dgm:spPr/>
    </dgm:pt>
    <dgm:pt modelId="{316908A2-92DC-4911-A564-0DB778682897}" type="pres">
      <dgm:prSet presAssocID="{E83A4389-E7CA-4630-AF48-4E0F68E8BE75}" presName="horz1" presStyleCnt="0"/>
      <dgm:spPr/>
    </dgm:pt>
    <dgm:pt modelId="{6A99218D-5EAF-4B4F-AC2D-38EEC881A1C8}" type="pres">
      <dgm:prSet presAssocID="{E83A4389-E7CA-4630-AF48-4E0F68E8BE75}" presName="tx1" presStyleLbl="revTx" presStyleIdx="2" presStyleCnt="5"/>
      <dgm:spPr/>
    </dgm:pt>
    <dgm:pt modelId="{A876D7CE-72EA-4CB4-96F2-26B9A5C8073B}" type="pres">
      <dgm:prSet presAssocID="{E83A4389-E7CA-4630-AF48-4E0F68E8BE75}" presName="vert1" presStyleCnt="0"/>
      <dgm:spPr/>
    </dgm:pt>
    <dgm:pt modelId="{56EDB9DA-35E5-482A-8325-60A1AB92E1D7}" type="pres">
      <dgm:prSet presAssocID="{D8B7B894-BEC5-4749-9CE7-DD1965826FFD}" presName="thickLine" presStyleLbl="alignNode1" presStyleIdx="3" presStyleCnt="5"/>
      <dgm:spPr/>
    </dgm:pt>
    <dgm:pt modelId="{EFFA9C52-464A-4488-B25F-95658C757113}" type="pres">
      <dgm:prSet presAssocID="{D8B7B894-BEC5-4749-9CE7-DD1965826FFD}" presName="horz1" presStyleCnt="0"/>
      <dgm:spPr/>
    </dgm:pt>
    <dgm:pt modelId="{60422A7D-F210-4715-872B-AF07E23C3DC0}" type="pres">
      <dgm:prSet presAssocID="{D8B7B894-BEC5-4749-9CE7-DD1965826FFD}" presName="tx1" presStyleLbl="revTx" presStyleIdx="3" presStyleCnt="5"/>
      <dgm:spPr/>
    </dgm:pt>
    <dgm:pt modelId="{BCB835BE-4BC7-46DF-9D76-70F6A17828BF}" type="pres">
      <dgm:prSet presAssocID="{D8B7B894-BEC5-4749-9CE7-DD1965826FFD}" presName="vert1" presStyleCnt="0"/>
      <dgm:spPr/>
    </dgm:pt>
    <dgm:pt modelId="{122B8996-680F-43EE-8384-2F5537537935}" type="pres">
      <dgm:prSet presAssocID="{56B7481C-21DA-43A6-8979-0349ABB31E0C}" presName="thickLine" presStyleLbl="alignNode1" presStyleIdx="4" presStyleCnt="5"/>
      <dgm:spPr/>
    </dgm:pt>
    <dgm:pt modelId="{5A1864FC-050B-4C9E-992E-C54297E0A63F}" type="pres">
      <dgm:prSet presAssocID="{56B7481C-21DA-43A6-8979-0349ABB31E0C}" presName="horz1" presStyleCnt="0"/>
      <dgm:spPr/>
    </dgm:pt>
    <dgm:pt modelId="{9A1A5578-FF9D-4E54-A66B-FFA3ECA0E560}" type="pres">
      <dgm:prSet presAssocID="{56B7481C-21DA-43A6-8979-0349ABB31E0C}" presName="tx1" presStyleLbl="revTx" presStyleIdx="4" presStyleCnt="5"/>
      <dgm:spPr/>
    </dgm:pt>
    <dgm:pt modelId="{102ADC01-5196-44B8-8064-8285E2937849}" type="pres">
      <dgm:prSet presAssocID="{56B7481C-21DA-43A6-8979-0349ABB31E0C}" presName="vert1" presStyleCnt="0"/>
      <dgm:spPr/>
    </dgm:pt>
  </dgm:ptLst>
  <dgm:cxnLst>
    <dgm:cxn modelId="{A7847521-08EF-4214-86C5-2E313FBEDEDD}" type="presOf" srcId="{FD0FD768-5910-4E5D-BE98-42FB825AD376}" destId="{BAE25078-6E6C-4A1D-8EEB-37DD4CDCFF27}" srcOrd="0" destOrd="0" presId="urn:microsoft.com/office/officeart/2008/layout/LinedList"/>
    <dgm:cxn modelId="{94A0D331-81E3-4D11-A96C-205C0D019231}" srcId="{B9561058-04AC-4992-814B-36369354ADEC}" destId="{FD0FD768-5910-4E5D-BE98-42FB825AD376}" srcOrd="1" destOrd="0" parTransId="{D274CC69-103B-4C75-A1EF-A1B3C36CED24}" sibTransId="{48414632-CAA5-4CEC-9987-8E2E8A097904}"/>
    <dgm:cxn modelId="{A3C6034D-60B5-4DC9-B4D1-D18A2D7265A7}" type="presOf" srcId="{C4834902-A29E-4348-8DB5-A9BF0DF09FBF}" destId="{C430DAD4-3952-491E-8BF8-216B74D94851}" srcOrd="0" destOrd="0" presId="urn:microsoft.com/office/officeart/2008/layout/LinedList"/>
    <dgm:cxn modelId="{E99DE470-655D-47E6-B3C6-25D8A4B91109}" type="presOf" srcId="{D8B7B894-BEC5-4749-9CE7-DD1965826FFD}" destId="{60422A7D-F210-4715-872B-AF07E23C3DC0}" srcOrd="0" destOrd="0" presId="urn:microsoft.com/office/officeart/2008/layout/LinedList"/>
    <dgm:cxn modelId="{F874A159-4004-450C-A75E-036235A5749C}" srcId="{B9561058-04AC-4992-814B-36369354ADEC}" destId="{56B7481C-21DA-43A6-8979-0349ABB31E0C}" srcOrd="4" destOrd="0" parTransId="{AA547260-7DEF-4B18-AD29-3CF046460059}" sibTransId="{26A0DECA-D584-40B4-98B1-220DE14CEFF3}"/>
    <dgm:cxn modelId="{387D318B-DD98-4C9C-954A-97848BDE4058}" type="presOf" srcId="{B9561058-04AC-4992-814B-36369354ADEC}" destId="{6D38933B-70EE-42B7-8888-D7F736136F4E}" srcOrd="0" destOrd="0" presId="urn:microsoft.com/office/officeart/2008/layout/LinedList"/>
    <dgm:cxn modelId="{73B0CE8E-254A-4A5C-B0B6-801ECC613A8E}" srcId="{B9561058-04AC-4992-814B-36369354ADEC}" destId="{E83A4389-E7CA-4630-AF48-4E0F68E8BE75}" srcOrd="2" destOrd="0" parTransId="{2E7C443B-2FAF-4A8E-AB2B-912805926D1D}" sibTransId="{ACFB0297-B927-4DCD-97CD-F4C1DBB2A351}"/>
    <dgm:cxn modelId="{C247B7AF-7B63-47E9-B4E8-1423C4449F43}" type="presOf" srcId="{56B7481C-21DA-43A6-8979-0349ABB31E0C}" destId="{9A1A5578-FF9D-4E54-A66B-FFA3ECA0E560}" srcOrd="0" destOrd="0" presId="urn:microsoft.com/office/officeart/2008/layout/LinedList"/>
    <dgm:cxn modelId="{74D666BA-0519-4328-AAC2-66C115682B19}" srcId="{B9561058-04AC-4992-814B-36369354ADEC}" destId="{C4834902-A29E-4348-8DB5-A9BF0DF09FBF}" srcOrd="0" destOrd="0" parTransId="{59C881AD-AE1D-4A2F-B365-0D9E9B1E93AD}" sibTransId="{B394CD10-7B1F-407F-A6BA-D0699F6FDAD6}"/>
    <dgm:cxn modelId="{C422EDC1-6F91-4C68-AF16-3DCC462B6E8C}" srcId="{B9561058-04AC-4992-814B-36369354ADEC}" destId="{D8B7B894-BEC5-4749-9CE7-DD1965826FFD}" srcOrd="3" destOrd="0" parTransId="{0E24746F-C5F8-461E-99B3-6D7BC3BD814B}" sibTransId="{F2AEA52E-4C6D-4146-BEDA-7AA767C0B2F0}"/>
    <dgm:cxn modelId="{F9EDA5D0-6E81-469A-840C-CB9684DE6C77}" type="presOf" srcId="{E83A4389-E7CA-4630-AF48-4E0F68E8BE75}" destId="{6A99218D-5EAF-4B4F-AC2D-38EEC881A1C8}" srcOrd="0" destOrd="0" presId="urn:microsoft.com/office/officeart/2008/layout/LinedList"/>
    <dgm:cxn modelId="{51A40B8D-01E1-439B-931B-3A57C73EC8AB}" type="presParOf" srcId="{6D38933B-70EE-42B7-8888-D7F736136F4E}" destId="{39F15211-3DE4-45A1-B42F-98B3EB18F0D1}" srcOrd="0" destOrd="0" presId="urn:microsoft.com/office/officeart/2008/layout/LinedList"/>
    <dgm:cxn modelId="{0AB7C930-98AD-4101-A521-C63DA8A5D2A6}" type="presParOf" srcId="{6D38933B-70EE-42B7-8888-D7F736136F4E}" destId="{54F187A7-438D-4300-B572-6F6CECCD0FA4}" srcOrd="1" destOrd="0" presId="urn:microsoft.com/office/officeart/2008/layout/LinedList"/>
    <dgm:cxn modelId="{F5483B5C-6FA8-4596-A451-5C4AA7A8AF97}" type="presParOf" srcId="{54F187A7-438D-4300-B572-6F6CECCD0FA4}" destId="{C430DAD4-3952-491E-8BF8-216B74D94851}" srcOrd="0" destOrd="0" presId="urn:microsoft.com/office/officeart/2008/layout/LinedList"/>
    <dgm:cxn modelId="{C7D8041D-2958-4A77-A230-053F1118E6BF}" type="presParOf" srcId="{54F187A7-438D-4300-B572-6F6CECCD0FA4}" destId="{7024C8D9-065C-4A71-9487-E9BD208D370C}" srcOrd="1" destOrd="0" presId="urn:microsoft.com/office/officeart/2008/layout/LinedList"/>
    <dgm:cxn modelId="{3747899C-70A5-4105-98E6-331C4C00F654}" type="presParOf" srcId="{6D38933B-70EE-42B7-8888-D7F736136F4E}" destId="{47E5B87A-668E-4BE7-9940-29735817D816}" srcOrd="2" destOrd="0" presId="urn:microsoft.com/office/officeart/2008/layout/LinedList"/>
    <dgm:cxn modelId="{1EF03916-944C-4A41-B5A7-07D1663F66E3}" type="presParOf" srcId="{6D38933B-70EE-42B7-8888-D7F736136F4E}" destId="{3E8EFE47-DF21-4833-9862-A94C72BD4C13}" srcOrd="3" destOrd="0" presId="urn:microsoft.com/office/officeart/2008/layout/LinedList"/>
    <dgm:cxn modelId="{852C65E8-D03B-49D8-BA88-77A56A53830C}" type="presParOf" srcId="{3E8EFE47-DF21-4833-9862-A94C72BD4C13}" destId="{BAE25078-6E6C-4A1D-8EEB-37DD4CDCFF27}" srcOrd="0" destOrd="0" presId="urn:microsoft.com/office/officeart/2008/layout/LinedList"/>
    <dgm:cxn modelId="{5A57F5FC-762A-4AD0-9FE1-9F56E3EC4DE5}" type="presParOf" srcId="{3E8EFE47-DF21-4833-9862-A94C72BD4C13}" destId="{DB8903F1-BFA5-4A11-B8AD-91BC44ED118F}" srcOrd="1" destOrd="0" presId="urn:microsoft.com/office/officeart/2008/layout/LinedList"/>
    <dgm:cxn modelId="{D5536EE6-978D-43EF-9312-06CF09BC443B}" type="presParOf" srcId="{6D38933B-70EE-42B7-8888-D7F736136F4E}" destId="{A9BBDE66-51AB-4521-98E1-80EF079332E1}" srcOrd="4" destOrd="0" presId="urn:microsoft.com/office/officeart/2008/layout/LinedList"/>
    <dgm:cxn modelId="{3B7FBA76-7DA0-4548-AF9B-B52ED4139974}" type="presParOf" srcId="{6D38933B-70EE-42B7-8888-D7F736136F4E}" destId="{316908A2-92DC-4911-A564-0DB778682897}" srcOrd="5" destOrd="0" presId="urn:microsoft.com/office/officeart/2008/layout/LinedList"/>
    <dgm:cxn modelId="{BEA15B81-CFFB-4BA0-94AE-6C16F55936D0}" type="presParOf" srcId="{316908A2-92DC-4911-A564-0DB778682897}" destId="{6A99218D-5EAF-4B4F-AC2D-38EEC881A1C8}" srcOrd="0" destOrd="0" presId="urn:microsoft.com/office/officeart/2008/layout/LinedList"/>
    <dgm:cxn modelId="{9096C071-2980-4726-99A4-4E2D44199FEE}" type="presParOf" srcId="{316908A2-92DC-4911-A564-0DB778682897}" destId="{A876D7CE-72EA-4CB4-96F2-26B9A5C8073B}" srcOrd="1" destOrd="0" presId="urn:microsoft.com/office/officeart/2008/layout/LinedList"/>
    <dgm:cxn modelId="{DBB3B45E-2567-4071-9164-B4D9F1E9C564}" type="presParOf" srcId="{6D38933B-70EE-42B7-8888-D7F736136F4E}" destId="{56EDB9DA-35E5-482A-8325-60A1AB92E1D7}" srcOrd="6" destOrd="0" presId="urn:microsoft.com/office/officeart/2008/layout/LinedList"/>
    <dgm:cxn modelId="{D04AD68E-E3CB-476F-AF6C-4C3C8C6ADDCE}" type="presParOf" srcId="{6D38933B-70EE-42B7-8888-D7F736136F4E}" destId="{EFFA9C52-464A-4488-B25F-95658C757113}" srcOrd="7" destOrd="0" presId="urn:microsoft.com/office/officeart/2008/layout/LinedList"/>
    <dgm:cxn modelId="{7A207030-43AD-48C8-9E03-FEB8B1543B42}" type="presParOf" srcId="{EFFA9C52-464A-4488-B25F-95658C757113}" destId="{60422A7D-F210-4715-872B-AF07E23C3DC0}" srcOrd="0" destOrd="0" presId="urn:microsoft.com/office/officeart/2008/layout/LinedList"/>
    <dgm:cxn modelId="{3D4BD875-5F05-4A84-9E5E-3B87A78EF581}" type="presParOf" srcId="{EFFA9C52-464A-4488-B25F-95658C757113}" destId="{BCB835BE-4BC7-46DF-9D76-70F6A17828BF}" srcOrd="1" destOrd="0" presId="urn:microsoft.com/office/officeart/2008/layout/LinedList"/>
    <dgm:cxn modelId="{585D5BAE-4F00-46B1-9F39-B064FD005839}" type="presParOf" srcId="{6D38933B-70EE-42B7-8888-D7F736136F4E}" destId="{122B8996-680F-43EE-8384-2F5537537935}" srcOrd="8" destOrd="0" presId="urn:microsoft.com/office/officeart/2008/layout/LinedList"/>
    <dgm:cxn modelId="{63107811-9459-433F-8E4E-153F5C3FC362}" type="presParOf" srcId="{6D38933B-70EE-42B7-8888-D7F736136F4E}" destId="{5A1864FC-050B-4C9E-992E-C54297E0A63F}" srcOrd="9" destOrd="0" presId="urn:microsoft.com/office/officeart/2008/layout/LinedList"/>
    <dgm:cxn modelId="{0FBF9EF0-EFAE-499D-9428-176C4A8BB9E3}" type="presParOf" srcId="{5A1864FC-050B-4C9E-992E-C54297E0A63F}" destId="{9A1A5578-FF9D-4E54-A66B-FFA3ECA0E560}" srcOrd="0" destOrd="0" presId="urn:microsoft.com/office/officeart/2008/layout/LinedList"/>
    <dgm:cxn modelId="{47E57BBF-D9B0-4B54-B127-95AC77236BC9}" type="presParOf" srcId="{5A1864FC-050B-4C9E-992E-C54297E0A63F}" destId="{102ADC01-5196-44B8-8064-8285E29378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F4F56D-95E6-4FFD-8073-094F0F92C9B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705B7D-40DB-4F46-913D-80CA0D68B322}">
      <dgm:prSet/>
      <dgm:spPr/>
      <dgm:t>
        <a:bodyPr/>
        <a:lstStyle/>
        <a:p>
          <a:r>
            <a:rPr lang="en-US"/>
            <a:t>Steady quarterly performance with a small Q4 dip.</a:t>
          </a:r>
        </a:p>
      </dgm:t>
    </dgm:pt>
    <dgm:pt modelId="{29731A28-99DC-4C81-942D-7EFBAB6F39B5}" type="parTrans" cxnId="{4D6C06E7-D489-436B-994E-4E347976178E}">
      <dgm:prSet/>
      <dgm:spPr/>
      <dgm:t>
        <a:bodyPr/>
        <a:lstStyle/>
        <a:p>
          <a:endParaRPr lang="en-US"/>
        </a:p>
      </dgm:t>
    </dgm:pt>
    <dgm:pt modelId="{1624DCF2-7912-4512-BA57-E4750661092F}" type="sibTrans" cxnId="{4D6C06E7-D489-436B-994E-4E347976178E}">
      <dgm:prSet/>
      <dgm:spPr/>
      <dgm:t>
        <a:bodyPr/>
        <a:lstStyle/>
        <a:p>
          <a:endParaRPr lang="en-US"/>
        </a:p>
      </dgm:t>
    </dgm:pt>
    <dgm:pt modelId="{EEA1A5ED-4600-4DED-8190-195CAA6B69FA}">
      <dgm:prSet/>
      <dgm:spPr/>
      <dgm:t>
        <a:bodyPr/>
        <a:lstStyle/>
        <a:p>
          <a:r>
            <a:rPr lang="en-US"/>
            <a:t>Bills and Entertainment drive the largest spend.</a:t>
          </a:r>
        </a:p>
      </dgm:t>
    </dgm:pt>
    <dgm:pt modelId="{242B460D-09A1-46E1-B19A-673B75FE5D08}" type="parTrans" cxnId="{222CE598-3AF1-42A3-876C-81488DEA5C78}">
      <dgm:prSet/>
      <dgm:spPr/>
      <dgm:t>
        <a:bodyPr/>
        <a:lstStyle/>
        <a:p>
          <a:endParaRPr lang="en-US"/>
        </a:p>
      </dgm:t>
    </dgm:pt>
    <dgm:pt modelId="{29625F60-1A1C-46AD-8CA7-1F3C2D5610D3}" type="sibTrans" cxnId="{222CE598-3AF1-42A3-876C-81488DEA5C78}">
      <dgm:prSet/>
      <dgm:spPr/>
      <dgm:t>
        <a:bodyPr/>
        <a:lstStyle/>
        <a:p>
          <a:endParaRPr lang="en-US"/>
        </a:p>
      </dgm:t>
    </dgm:pt>
    <dgm:pt modelId="{875D3E9C-7B4C-4517-AC6C-19C270CE7794}">
      <dgm:prSet/>
      <dgm:spPr/>
      <dgm:t>
        <a:bodyPr/>
        <a:lstStyle/>
        <a:p>
          <a:r>
            <a:rPr lang="en-US"/>
            <a:t>Graduates and Businessmen lead revenue share.</a:t>
          </a:r>
        </a:p>
      </dgm:t>
    </dgm:pt>
    <dgm:pt modelId="{94B47450-A707-44F7-808E-60AD7DBA90E4}" type="parTrans" cxnId="{4FCEFF05-CB7E-432E-BB38-3910A05EF7FD}">
      <dgm:prSet/>
      <dgm:spPr/>
      <dgm:t>
        <a:bodyPr/>
        <a:lstStyle/>
        <a:p>
          <a:endParaRPr lang="en-US"/>
        </a:p>
      </dgm:t>
    </dgm:pt>
    <dgm:pt modelId="{B804CB8B-40AB-4E9E-99BF-3D2B0106C88B}" type="sibTrans" cxnId="{4FCEFF05-CB7E-432E-BB38-3910A05EF7FD}">
      <dgm:prSet/>
      <dgm:spPr/>
      <dgm:t>
        <a:bodyPr/>
        <a:lstStyle/>
        <a:p>
          <a:endParaRPr lang="en-US"/>
        </a:p>
      </dgm:t>
    </dgm:pt>
    <dgm:pt modelId="{50570B37-B02E-47AC-B0E3-DD59F0BDD6F6}">
      <dgm:prSet/>
      <dgm:spPr/>
      <dgm:t>
        <a:bodyPr/>
        <a:lstStyle/>
        <a:p>
          <a:r>
            <a:rPr lang="en-US"/>
            <a:t>Blue Card users contribute most of the portfolio income.</a:t>
          </a:r>
        </a:p>
      </dgm:t>
    </dgm:pt>
    <dgm:pt modelId="{CD99D9F5-2296-4069-9FCC-EB17A6FA185E}" type="parTrans" cxnId="{6769C454-BD4A-46CD-B3BD-D10EE186CCF1}">
      <dgm:prSet/>
      <dgm:spPr/>
      <dgm:t>
        <a:bodyPr/>
        <a:lstStyle/>
        <a:p>
          <a:endParaRPr lang="en-US"/>
        </a:p>
      </dgm:t>
    </dgm:pt>
    <dgm:pt modelId="{BA92FBF1-B6B6-4E5C-948D-7A7B759589DD}" type="sibTrans" cxnId="{6769C454-BD4A-46CD-B3BD-D10EE186CCF1}">
      <dgm:prSet/>
      <dgm:spPr/>
      <dgm:t>
        <a:bodyPr/>
        <a:lstStyle/>
        <a:p>
          <a:endParaRPr lang="en-US"/>
        </a:p>
      </dgm:t>
    </dgm:pt>
    <dgm:pt modelId="{535DF140-ADCC-49B9-86C4-29505FA7BBAF}">
      <dgm:prSet/>
      <dgm:spPr/>
      <dgm:t>
        <a:bodyPr/>
        <a:lstStyle/>
        <a:p>
          <a:r>
            <a:rPr lang="en-US"/>
            <a:t>High dependency from low-income and senior segments.</a:t>
          </a:r>
        </a:p>
      </dgm:t>
    </dgm:pt>
    <dgm:pt modelId="{BBCA6200-752A-4CC3-8C07-3E3F9F014239}" type="parTrans" cxnId="{C8503F59-8D4E-469D-A962-819AB6F07BA4}">
      <dgm:prSet/>
      <dgm:spPr/>
      <dgm:t>
        <a:bodyPr/>
        <a:lstStyle/>
        <a:p>
          <a:endParaRPr lang="en-US"/>
        </a:p>
      </dgm:t>
    </dgm:pt>
    <dgm:pt modelId="{2D1B683B-1C0D-4732-B6AC-CB991B21A24B}" type="sibTrans" cxnId="{C8503F59-8D4E-469D-A962-819AB6F07BA4}">
      <dgm:prSet/>
      <dgm:spPr/>
      <dgm:t>
        <a:bodyPr/>
        <a:lstStyle/>
        <a:p>
          <a:endParaRPr lang="en-US"/>
        </a:p>
      </dgm:t>
    </dgm:pt>
    <dgm:pt modelId="{8B857188-D751-430A-970A-599AF2D0B827}" type="pres">
      <dgm:prSet presAssocID="{B1F4F56D-95E6-4FFD-8073-094F0F92C9BF}" presName="linear" presStyleCnt="0">
        <dgm:presLayoutVars>
          <dgm:animLvl val="lvl"/>
          <dgm:resizeHandles val="exact"/>
        </dgm:presLayoutVars>
      </dgm:prSet>
      <dgm:spPr/>
    </dgm:pt>
    <dgm:pt modelId="{F321EB6A-7972-459B-9721-456892EED517}" type="pres">
      <dgm:prSet presAssocID="{9E705B7D-40DB-4F46-913D-80CA0D68B32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786BE20-8C11-45FA-A5B2-352F6FC47D09}" type="pres">
      <dgm:prSet presAssocID="{1624DCF2-7912-4512-BA57-E4750661092F}" presName="spacer" presStyleCnt="0"/>
      <dgm:spPr/>
    </dgm:pt>
    <dgm:pt modelId="{D74EE042-FB96-4365-8B49-CC81ADB2DE86}" type="pres">
      <dgm:prSet presAssocID="{EEA1A5ED-4600-4DED-8190-195CAA6B69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86CB26-636D-439F-A19C-98E8A77903BA}" type="pres">
      <dgm:prSet presAssocID="{29625F60-1A1C-46AD-8CA7-1F3C2D5610D3}" presName="spacer" presStyleCnt="0"/>
      <dgm:spPr/>
    </dgm:pt>
    <dgm:pt modelId="{5484637B-3E86-41FA-9E7B-A59F1F24ACDB}" type="pres">
      <dgm:prSet presAssocID="{875D3E9C-7B4C-4517-AC6C-19C270CE779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BF7FDFE-6923-4349-942A-81211FBBF8F0}" type="pres">
      <dgm:prSet presAssocID="{B804CB8B-40AB-4E9E-99BF-3D2B0106C88B}" presName="spacer" presStyleCnt="0"/>
      <dgm:spPr/>
    </dgm:pt>
    <dgm:pt modelId="{FE98EFF6-9DBA-4471-B954-3F78BD02CB66}" type="pres">
      <dgm:prSet presAssocID="{50570B37-B02E-47AC-B0E3-DD59F0BDD6F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6863C86-0F00-436C-B384-F1A3A58F5FEB}" type="pres">
      <dgm:prSet presAssocID="{BA92FBF1-B6B6-4E5C-948D-7A7B759589DD}" presName="spacer" presStyleCnt="0"/>
      <dgm:spPr/>
    </dgm:pt>
    <dgm:pt modelId="{01A31822-C49B-4627-9BF4-41A0F5BEE269}" type="pres">
      <dgm:prSet presAssocID="{535DF140-ADCC-49B9-86C4-29505FA7BB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FCEFF05-CB7E-432E-BB38-3910A05EF7FD}" srcId="{B1F4F56D-95E6-4FFD-8073-094F0F92C9BF}" destId="{875D3E9C-7B4C-4517-AC6C-19C270CE7794}" srcOrd="2" destOrd="0" parTransId="{94B47450-A707-44F7-808E-60AD7DBA90E4}" sibTransId="{B804CB8B-40AB-4E9E-99BF-3D2B0106C88B}"/>
    <dgm:cxn modelId="{6769C454-BD4A-46CD-B3BD-D10EE186CCF1}" srcId="{B1F4F56D-95E6-4FFD-8073-094F0F92C9BF}" destId="{50570B37-B02E-47AC-B0E3-DD59F0BDD6F6}" srcOrd="3" destOrd="0" parTransId="{CD99D9F5-2296-4069-9FCC-EB17A6FA185E}" sibTransId="{BA92FBF1-B6B6-4E5C-948D-7A7B759589DD}"/>
    <dgm:cxn modelId="{64EBA278-5B31-4641-BDAC-F10714FEA7AF}" type="presOf" srcId="{875D3E9C-7B4C-4517-AC6C-19C270CE7794}" destId="{5484637B-3E86-41FA-9E7B-A59F1F24ACDB}" srcOrd="0" destOrd="0" presId="urn:microsoft.com/office/officeart/2005/8/layout/vList2"/>
    <dgm:cxn modelId="{C8503F59-8D4E-469D-A962-819AB6F07BA4}" srcId="{B1F4F56D-95E6-4FFD-8073-094F0F92C9BF}" destId="{535DF140-ADCC-49B9-86C4-29505FA7BBAF}" srcOrd="4" destOrd="0" parTransId="{BBCA6200-752A-4CC3-8C07-3E3F9F014239}" sibTransId="{2D1B683B-1C0D-4732-B6AC-CB991B21A24B}"/>
    <dgm:cxn modelId="{5764DE7F-41D2-46E0-ABDC-3FE3B010CD4B}" type="presOf" srcId="{EEA1A5ED-4600-4DED-8190-195CAA6B69FA}" destId="{D74EE042-FB96-4365-8B49-CC81ADB2DE86}" srcOrd="0" destOrd="0" presId="urn:microsoft.com/office/officeart/2005/8/layout/vList2"/>
    <dgm:cxn modelId="{7A7DBB94-B214-4E47-A082-CF14252BF966}" type="presOf" srcId="{535DF140-ADCC-49B9-86C4-29505FA7BBAF}" destId="{01A31822-C49B-4627-9BF4-41A0F5BEE269}" srcOrd="0" destOrd="0" presId="urn:microsoft.com/office/officeart/2005/8/layout/vList2"/>
    <dgm:cxn modelId="{222CE598-3AF1-42A3-876C-81488DEA5C78}" srcId="{B1F4F56D-95E6-4FFD-8073-094F0F92C9BF}" destId="{EEA1A5ED-4600-4DED-8190-195CAA6B69FA}" srcOrd="1" destOrd="0" parTransId="{242B460D-09A1-46E1-B19A-673B75FE5D08}" sibTransId="{29625F60-1A1C-46AD-8CA7-1F3C2D5610D3}"/>
    <dgm:cxn modelId="{7E7A26C4-3A2D-4CAE-AC65-AA467F603AC5}" type="presOf" srcId="{50570B37-B02E-47AC-B0E3-DD59F0BDD6F6}" destId="{FE98EFF6-9DBA-4471-B954-3F78BD02CB66}" srcOrd="0" destOrd="0" presId="urn:microsoft.com/office/officeart/2005/8/layout/vList2"/>
    <dgm:cxn modelId="{4083C4CA-FCD2-4235-B350-48749464A98B}" type="presOf" srcId="{9E705B7D-40DB-4F46-913D-80CA0D68B322}" destId="{F321EB6A-7972-459B-9721-456892EED517}" srcOrd="0" destOrd="0" presId="urn:microsoft.com/office/officeart/2005/8/layout/vList2"/>
    <dgm:cxn modelId="{D2F555D4-76DA-482A-908F-2227BB54BE1E}" type="presOf" srcId="{B1F4F56D-95E6-4FFD-8073-094F0F92C9BF}" destId="{8B857188-D751-430A-970A-599AF2D0B827}" srcOrd="0" destOrd="0" presId="urn:microsoft.com/office/officeart/2005/8/layout/vList2"/>
    <dgm:cxn modelId="{4D6C06E7-D489-436B-994E-4E347976178E}" srcId="{B1F4F56D-95E6-4FFD-8073-094F0F92C9BF}" destId="{9E705B7D-40DB-4F46-913D-80CA0D68B322}" srcOrd="0" destOrd="0" parTransId="{29731A28-99DC-4C81-942D-7EFBAB6F39B5}" sibTransId="{1624DCF2-7912-4512-BA57-E4750661092F}"/>
    <dgm:cxn modelId="{FB55BD84-0BDE-409E-844A-FBB2E929FD59}" type="presParOf" srcId="{8B857188-D751-430A-970A-599AF2D0B827}" destId="{F321EB6A-7972-459B-9721-456892EED517}" srcOrd="0" destOrd="0" presId="urn:microsoft.com/office/officeart/2005/8/layout/vList2"/>
    <dgm:cxn modelId="{5C1308AC-0B0C-4BDA-BF50-13D32C042BF8}" type="presParOf" srcId="{8B857188-D751-430A-970A-599AF2D0B827}" destId="{F786BE20-8C11-45FA-A5B2-352F6FC47D09}" srcOrd="1" destOrd="0" presId="urn:microsoft.com/office/officeart/2005/8/layout/vList2"/>
    <dgm:cxn modelId="{F5831DE2-6F94-4076-A313-101D489B0382}" type="presParOf" srcId="{8B857188-D751-430A-970A-599AF2D0B827}" destId="{D74EE042-FB96-4365-8B49-CC81ADB2DE86}" srcOrd="2" destOrd="0" presId="urn:microsoft.com/office/officeart/2005/8/layout/vList2"/>
    <dgm:cxn modelId="{BB89AC2F-5EF5-4CA2-81A0-EBE83F60FE04}" type="presParOf" srcId="{8B857188-D751-430A-970A-599AF2D0B827}" destId="{7686CB26-636D-439F-A19C-98E8A77903BA}" srcOrd="3" destOrd="0" presId="urn:microsoft.com/office/officeart/2005/8/layout/vList2"/>
    <dgm:cxn modelId="{2D7A3F2C-27D3-4FD8-ABEB-2C0DCECA9A73}" type="presParOf" srcId="{8B857188-D751-430A-970A-599AF2D0B827}" destId="{5484637B-3E86-41FA-9E7B-A59F1F24ACDB}" srcOrd="4" destOrd="0" presId="urn:microsoft.com/office/officeart/2005/8/layout/vList2"/>
    <dgm:cxn modelId="{34AB09EC-B711-446F-838B-FF92BB5A4255}" type="presParOf" srcId="{8B857188-D751-430A-970A-599AF2D0B827}" destId="{6BF7FDFE-6923-4349-942A-81211FBBF8F0}" srcOrd="5" destOrd="0" presId="urn:microsoft.com/office/officeart/2005/8/layout/vList2"/>
    <dgm:cxn modelId="{649A1E81-84DD-4D36-9DD0-5B986A77CF31}" type="presParOf" srcId="{8B857188-D751-430A-970A-599AF2D0B827}" destId="{FE98EFF6-9DBA-4471-B954-3F78BD02CB66}" srcOrd="6" destOrd="0" presId="urn:microsoft.com/office/officeart/2005/8/layout/vList2"/>
    <dgm:cxn modelId="{87252EFE-1DD4-4766-A97C-1A4658A0D421}" type="presParOf" srcId="{8B857188-D751-430A-970A-599AF2D0B827}" destId="{46863C86-0F00-436C-B384-F1A3A58F5FEB}" srcOrd="7" destOrd="0" presId="urn:microsoft.com/office/officeart/2005/8/layout/vList2"/>
    <dgm:cxn modelId="{5942C1FD-47B2-4A86-92DC-39D325CF0504}" type="presParOf" srcId="{8B857188-D751-430A-970A-599AF2D0B827}" destId="{01A31822-C49B-4627-9BF4-41A0F5BEE2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7901CF-6F2C-4F34-979C-CDB304B34DFD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986C007-5982-4A3F-906A-301CDAB451A9}">
      <dgm:prSet/>
      <dgm:spPr/>
      <dgm:t>
        <a:bodyPr/>
        <a:lstStyle/>
        <a:p>
          <a:r>
            <a:rPr lang="en-US"/>
            <a:t>1. Launch premium rewards for Blue &amp; Silver cardholders.</a:t>
          </a:r>
        </a:p>
      </dgm:t>
    </dgm:pt>
    <dgm:pt modelId="{5D945573-7A13-4FE0-B22B-0603C34FDAA0}" type="parTrans" cxnId="{C3417660-00D5-4355-AFEC-887B517A405F}">
      <dgm:prSet/>
      <dgm:spPr/>
      <dgm:t>
        <a:bodyPr/>
        <a:lstStyle/>
        <a:p>
          <a:endParaRPr lang="en-US"/>
        </a:p>
      </dgm:t>
    </dgm:pt>
    <dgm:pt modelId="{602D2045-75AC-4641-BF95-3D62BF1011F2}" type="sibTrans" cxnId="{C3417660-00D5-4355-AFEC-887B517A405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AAA135C-DDB7-49D8-9EB2-68F39E274111}">
      <dgm:prSet/>
      <dgm:spPr/>
      <dgm:t>
        <a:bodyPr/>
        <a:lstStyle/>
        <a:p>
          <a:r>
            <a:rPr lang="en-US"/>
            <a:t>2. Offer lifestyle-based cashback in Bills, Entertainment, and Travel categories.</a:t>
          </a:r>
        </a:p>
      </dgm:t>
    </dgm:pt>
    <dgm:pt modelId="{2EFDD430-B25E-436A-96E8-1D0316AA9732}" type="parTrans" cxnId="{57FDA77D-ADB3-4E7E-9FD3-C92FA777D742}">
      <dgm:prSet/>
      <dgm:spPr/>
      <dgm:t>
        <a:bodyPr/>
        <a:lstStyle/>
        <a:p>
          <a:endParaRPr lang="en-US"/>
        </a:p>
      </dgm:t>
    </dgm:pt>
    <dgm:pt modelId="{375D8589-E1EC-4283-B0C3-106A1931F157}" type="sibTrans" cxnId="{57FDA77D-ADB3-4E7E-9FD3-C92FA777D74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F79BE76-7019-4FC4-87E0-09D8AF469D0B}">
      <dgm:prSet/>
      <dgm:spPr/>
      <dgm:t>
        <a:bodyPr/>
        <a:lstStyle/>
        <a:p>
          <a:r>
            <a:rPr lang="en-US"/>
            <a:t>3. Educate low-income groups on credit optimization.</a:t>
          </a:r>
        </a:p>
      </dgm:t>
    </dgm:pt>
    <dgm:pt modelId="{F728B094-62CF-4C4E-8F16-A2DBDD88ECA2}" type="parTrans" cxnId="{650D5C9D-2A71-48C1-9027-8676E84B7CFF}">
      <dgm:prSet/>
      <dgm:spPr/>
      <dgm:t>
        <a:bodyPr/>
        <a:lstStyle/>
        <a:p>
          <a:endParaRPr lang="en-US"/>
        </a:p>
      </dgm:t>
    </dgm:pt>
    <dgm:pt modelId="{3641632D-2275-41F1-9262-92DFE061789B}" type="sibTrans" cxnId="{650D5C9D-2A71-48C1-9027-8676E84B7CF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86CA7CA-1C35-4879-AF22-8D37FA17F1DA}">
      <dgm:prSet/>
      <dgm:spPr/>
      <dgm:t>
        <a:bodyPr/>
        <a:lstStyle/>
        <a:p>
          <a:r>
            <a:rPr lang="en-US"/>
            <a:t>4. Retain high-value senior customers with loyalty programs.</a:t>
          </a:r>
        </a:p>
      </dgm:t>
    </dgm:pt>
    <dgm:pt modelId="{374A95EE-77DF-4DCF-8C86-AB450A5F964C}" type="parTrans" cxnId="{D9A16415-25C7-4C33-9A9C-D328023FB200}">
      <dgm:prSet/>
      <dgm:spPr/>
      <dgm:t>
        <a:bodyPr/>
        <a:lstStyle/>
        <a:p>
          <a:endParaRPr lang="en-US"/>
        </a:p>
      </dgm:t>
    </dgm:pt>
    <dgm:pt modelId="{D3A44532-A69D-4B91-A603-B0B81ABE5483}" type="sibTrans" cxnId="{D9A16415-25C7-4C33-9A9C-D328023FB20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1487674-B138-4B7E-BE22-CD6728E1D7A5}">
      <dgm:prSet/>
      <dgm:spPr/>
      <dgm:t>
        <a:bodyPr/>
        <a:lstStyle/>
        <a:p>
          <a:r>
            <a:rPr lang="en-US"/>
            <a:t>5. Incentivize online payments to grow digital engagement.</a:t>
          </a:r>
        </a:p>
      </dgm:t>
    </dgm:pt>
    <dgm:pt modelId="{43F2CA0C-688A-452D-B459-65CE3CD76EE0}" type="parTrans" cxnId="{7B10DDCF-26C1-4279-9172-7D57ABD297B8}">
      <dgm:prSet/>
      <dgm:spPr/>
      <dgm:t>
        <a:bodyPr/>
        <a:lstStyle/>
        <a:p>
          <a:endParaRPr lang="en-US"/>
        </a:p>
      </dgm:t>
    </dgm:pt>
    <dgm:pt modelId="{2D7A56B7-9319-4834-B22A-E4961FA30570}" type="sibTrans" cxnId="{7B10DDCF-26C1-4279-9172-7D57ABD297B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ACBC719-5857-495F-BFE8-636B3B200A01}" type="pres">
      <dgm:prSet presAssocID="{FF7901CF-6F2C-4F34-979C-CDB304B34DFD}" presName="linearFlow" presStyleCnt="0">
        <dgm:presLayoutVars>
          <dgm:dir/>
          <dgm:animLvl val="lvl"/>
          <dgm:resizeHandles val="exact"/>
        </dgm:presLayoutVars>
      </dgm:prSet>
      <dgm:spPr/>
    </dgm:pt>
    <dgm:pt modelId="{F1D2524D-0CE3-478F-ACE9-9F9A4711BCCC}" type="pres">
      <dgm:prSet presAssocID="{E986C007-5982-4A3F-906A-301CDAB451A9}" presName="compositeNode" presStyleCnt="0"/>
      <dgm:spPr/>
    </dgm:pt>
    <dgm:pt modelId="{2AD35532-297C-41EA-ACAD-6686885C3252}" type="pres">
      <dgm:prSet presAssocID="{E986C007-5982-4A3F-906A-301CDAB451A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2A41BB3-0434-40E2-944E-072350229844}" type="pres">
      <dgm:prSet presAssocID="{E986C007-5982-4A3F-906A-301CDAB451A9}" presName="parSh" presStyleCnt="0"/>
      <dgm:spPr/>
    </dgm:pt>
    <dgm:pt modelId="{DFCCC5C0-A80A-4874-8FEC-1BD9EDE2DD9E}" type="pres">
      <dgm:prSet presAssocID="{E986C007-5982-4A3F-906A-301CDAB451A9}" presName="lineNode" presStyleLbl="alignAccFollowNode1" presStyleIdx="0" presStyleCnt="15"/>
      <dgm:spPr/>
    </dgm:pt>
    <dgm:pt modelId="{D693A190-948A-49A9-96E8-A2B747E4209E}" type="pres">
      <dgm:prSet presAssocID="{E986C007-5982-4A3F-906A-301CDAB451A9}" presName="lineArrowNode" presStyleLbl="alignAccFollowNode1" presStyleIdx="1" presStyleCnt="15"/>
      <dgm:spPr/>
    </dgm:pt>
    <dgm:pt modelId="{4BE5B327-5A1B-4FE5-9405-06872A7B2317}" type="pres">
      <dgm:prSet presAssocID="{602D2045-75AC-4641-BF95-3D62BF1011F2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CD59E98E-2401-4A7E-9C74-21B2870CB84E}" type="pres">
      <dgm:prSet presAssocID="{602D2045-75AC-4641-BF95-3D62BF1011F2}" presName="spacerBetweenCircleAndCallout" presStyleCnt="0">
        <dgm:presLayoutVars/>
      </dgm:prSet>
      <dgm:spPr/>
    </dgm:pt>
    <dgm:pt modelId="{34653A34-B544-4F74-94BA-182F92768504}" type="pres">
      <dgm:prSet presAssocID="{E986C007-5982-4A3F-906A-301CDAB451A9}" presName="nodeText" presStyleLbl="alignAccFollowNode1" presStyleIdx="2" presStyleCnt="15">
        <dgm:presLayoutVars>
          <dgm:bulletEnabled val="1"/>
        </dgm:presLayoutVars>
      </dgm:prSet>
      <dgm:spPr/>
    </dgm:pt>
    <dgm:pt modelId="{25523DFA-AA29-4674-BEF1-D0512BA7C427}" type="pres">
      <dgm:prSet presAssocID="{602D2045-75AC-4641-BF95-3D62BF1011F2}" presName="sibTransComposite" presStyleCnt="0"/>
      <dgm:spPr/>
    </dgm:pt>
    <dgm:pt modelId="{7D90A81A-615F-4059-A5A4-83789C1FD21F}" type="pres">
      <dgm:prSet presAssocID="{DAAA135C-DDB7-49D8-9EB2-68F39E274111}" presName="compositeNode" presStyleCnt="0"/>
      <dgm:spPr/>
    </dgm:pt>
    <dgm:pt modelId="{3F09D272-48F2-4525-B48D-C941DA47432A}" type="pres">
      <dgm:prSet presAssocID="{DAAA135C-DDB7-49D8-9EB2-68F39E27411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9FFA161-676F-47B2-8A2B-FCF96CB24C91}" type="pres">
      <dgm:prSet presAssocID="{DAAA135C-DDB7-49D8-9EB2-68F39E274111}" presName="parSh" presStyleCnt="0"/>
      <dgm:spPr/>
    </dgm:pt>
    <dgm:pt modelId="{83BC5C07-C1ED-4E9A-B6BF-25F1083984EA}" type="pres">
      <dgm:prSet presAssocID="{DAAA135C-DDB7-49D8-9EB2-68F39E274111}" presName="lineNode" presStyleLbl="alignAccFollowNode1" presStyleIdx="3" presStyleCnt="15"/>
      <dgm:spPr/>
    </dgm:pt>
    <dgm:pt modelId="{A760C346-7152-4735-9EBA-4D700FBCE6E3}" type="pres">
      <dgm:prSet presAssocID="{DAAA135C-DDB7-49D8-9EB2-68F39E274111}" presName="lineArrowNode" presStyleLbl="alignAccFollowNode1" presStyleIdx="4" presStyleCnt="15"/>
      <dgm:spPr/>
    </dgm:pt>
    <dgm:pt modelId="{FAE86807-0751-407C-B377-7B02332F1F93}" type="pres">
      <dgm:prSet presAssocID="{375D8589-E1EC-4283-B0C3-106A1931F157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EC0D5D38-3759-4923-8CD5-E19C9A755267}" type="pres">
      <dgm:prSet presAssocID="{375D8589-E1EC-4283-B0C3-106A1931F157}" presName="spacerBetweenCircleAndCallout" presStyleCnt="0">
        <dgm:presLayoutVars/>
      </dgm:prSet>
      <dgm:spPr/>
    </dgm:pt>
    <dgm:pt modelId="{43C2AD95-18D2-46D1-984B-4DF913124D5E}" type="pres">
      <dgm:prSet presAssocID="{DAAA135C-DDB7-49D8-9EB2-68F39E274111}" presName="nodeText" presStyleLbl="alignAccFollowNode1" presStyleIdx="5" presStyleCnt="15">
        <dgm:presLayoutVars>
          <dgm:bulletEnabled val="1"/>
        </dgm:presLayoutVars>
      </dgm:prSet>
      <dgm:spPr/>
    </dgm:pt>
    <dgm:pt modelId="{B611A321-32A0-42A5-A10C-C7EFC165C939}" type="pres">
      <dgm:prSet presAssocID="{375D8589-E1EC-4283-B0C3-106A1931F157}" presName="sibTransComposite" presStyleCnt="0"/>
      <dgm:spPr/>
    </dgm:pt>
    <dgm:pt modelId="{9D277B01-D324-44C5-909E-D52B832B9737}" type="pres">
      <dgm:prSet presAssocID="{DF79BE76-7019-4FC4-87E0-09D8AF469D0B}" presName="compositeNode" presStyleCnt="0"/>
      <dgm:spPr/>
    </dgm:pt>
    <dgm:pt modelId="{2F5219EE-0185-419B-84E5-74A38CCE8554}" type="pres">
      <dgm:prSet presAssocID="{DF79BE76-7019-4FC4-87E0-09D8AF469D0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2873CA8-D0DF-4BD0-A3BA-D92C94B58F84}" type="pres">
      <dgm:prSet presAssocID="{DF79BE76-7019-4FC4-87E0-09D8AF469D0B}" presName="parSh" presStyleCnt="0"/>
      <dgm:spPr/>
    </dgm:pt>
    <dgm:pt modelId="{C4AA134B-E0A2-4E53-B7C8-4006414F3F09}" type="pres">
      <dgm:prSet presAssocID="{DF79BE76-7019-4FC4-87E0-09D8AF469D0B}" presName="lineNode" presStyleLbl="alignAccFollowNode1" presStyleIdx="6" presStyleCnt="15"/>
      <dgm:spPr/>
    </dgm:pt>
    <dgm:pt modelId="{6041AA24-2FB4-4078-A2D7-D8CB53F279A2}" type="pres">
      <dgm:prSet presAssocID="{DF79BE76-7019-4FC4-87E0-09D8AF469D0B}" presName="lineArrowNode" presStyleLbl="alignAccFollowNode1" presStyleIdx="7" presStyleCnt="15"/>
      <dgm:spPr/>
    </dgm:pt>
    <dgm:pt modelId="{E4AC17B5-5548-4753-AB9B-B26008368F58}" type="pres">
      <dgm:prSet presAssocID="{3641632D-2275-41F1-9262-92DFE061789B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AC411B1-E7A2-4A7E-BD8F-A39CD273142A}" type="pres">
      <dgm:prSet presAssocID="{3641632D-2275-41F1-9262-92DFE061789B}" presName="spacerBetweenCircleAndCallout" presStyleCnt="0">
        <dgm:presLayoutVars/>
      </dgm:prSet>
      <dgm:spPr/>
    </dgm:pt>
    <dgm:pt modelId="{93D4CE0F-C622-4C23-91DD-6E14504FCF50}" type="pres">
      <dgm:prSet presAssocID="{DF79BE76-7019-4FC4-87E0-09D8AF469D0B}" presName="nodeText" presStyleLbl="alignAccFollowNode1" presStyleIdx="8" presStyleCnt="15">
        <dgm:presLayoutVars>
          <dgm:bulletEnabled val="1"/>
        </dgm:presLayoutVars>
      </dgm:prSet>
      <dgm:spPr/>
    </dgm:pt>
    <dgm:pt modelId="{98D7544E-533B-4EAE-BB27-CCD383555948}" type="pres">
      <dgm:prSet presAssocID="{3641632D-2275-41F1-9262-92DFE061789B}" presName="sibTransComposite" presStyleCnt="0"/>
      <dgm:spPr/>
    </dgm:pt>
    <dgm:pt modelId="{900C5A4A-184E-4629-BFA8-256DCD8670D2}" type="pres">
      <dgm:prSet presAssocID="{786CA7CA-1C35-4879-AF22-8D37FA17F1DA}" presName="compositeNode" presStyleCnt="0"/>
      <dgm:spPr/>
    </dgm:pt>
    <dgm:pt modelId="{FC8E35B8-9570-4380-9E2A-920AC3D9150D}" type="pres">
      <dgm:prSet presAssocID="{786CA7CA-1C35-4879-AF22-8D37FA17F1D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B92FE88-DFFC-439E-91D3-E3C44588E1C0}" type="pres">
      <dgm:prSet presAssocID="{786CA7CA-1C35-4879-AF22-8D37FA17F1DA}" presName="parSh" presStyleCnt="0"/>
      <dgm:spPr/>
    </dgm:pt>
    <dgm:pt modelId="{79280A4B-6EF5-4081-ACED-8034FE61D864}" type="pres">
      <dgm:prSet presAssocID="{786CA7CA-1C35-4879-AF22-8D37FA17F1DA}" presName="lineNode" presStyleLbl="alignAccFollowNode1" presStyleIdx="9" presStyleCnt="15"/>
      <dgm:spPr/>
    </dgm:pt>
    <dgm:pt modelId="{ED1A50FA-E59B-4CCA-A0FF-D9BD6E4E874E}" type="pres">
      <dgm:prSet presAssocID="{786CA7CA-1C35-4879-AF22-8D37FA17F1DA}" presName="lineArrowNode" presStyleLbl="alignAccFollowNode1" presStyleIdx="10" presStyleCnt="15"/>
      <dgm:spPr/>
    </dgm:pt>
    <dgm:pt modelId="{3CF8EC10-BDB1-4653-8026-4EC22C48516E}" type="pres">
      <dgm:prSet presAssocID="{D3A44532-A69D-4B91-A603-B0B81ABE5483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1FF3597-08DD-4B9A-B1C4-0D673AF5CAF5}" type="pres">
      <dgm:prSet presAssocID="{D3A44532-A69D-4B91-A603-B0B81ABE5483}" presName="spacerBetweenCircleAndCallout" presStyleCnt="0">
        <dgm:presLayoutVars/>
      </dgm:prSet>
      <dgm:spPr/>
    </dgm:pt>
    <dgm:pt modelId="{3B782F7A-FFD6-437F-9FBC-2B4428838674}" type="pres">
      <dgm:prSet presAssocID="{786CA7CA-1C35-4879-AF22-8D37FA17F1DA}" presName="nodeText" presStyleLbl="alignAccFollowNode1" presStyleIdx="11" presStyleCnt="15">
        <dgm:presLayoutVars>
          <dgm:bulletEnabled val="1"/>
        </dgm:presLayoutVars>
      </dgm:prSet>
      <dgm:spPr/>
    </dgm:pt>
    <dgm:pt modelId="{395E44E5-F3FD-4352-B58B-7A7022958CD1}" type="pres">
      <dgm:prSet presAssocID="{D3A44532-A69D-4B91-A603-B0B81ABE5483}" presName="sibTransComposite" presStyleCnt="0"/>
      <dgm:spPr/>
    </dgm:pt>
    <dgm:pt modelId="{FE5A34D0-5FB6-4DE0-B1C3-AD7A136730DF}" type="pres">
      <dgm:prSet presAssocID="{81487674-B138-4B7E-BE22-CD6728E1D7A5}" presName="compositeNode" presStyleCnt="0"/>
      <dgm:spPr/>
    </dgm:pt>
    <dgm:pt modelId="{71788B3B-38F9-40E5-8D9E-B73D15303F4B}" type="pres">
      <dgm:prSet presAssocID="{81487674-B138-4B7E-BE22-CD6728E1D7A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F0A61B5-DB8A-43DE-A0A8-B36D15A1DFAB}" type="pres">
      <dgm:prSet presAssocID="{81487674-B138-4B7E-BE22-CD6728E1D7A5}" presName="parSh" presStyleCnt="0"/>
      <dgm:spPr/>
    </dgm:pt>
    <dgm:pt modelId="{2C8E8B8E-6CC2-41B2-A085-6EF360E4EF81}" type="pres">
      <dgm:prSet presAssocID="{81487674-B138-4B7E-BE22-CD6728E1D7A5}" presName="lineNode" presStyleLbl="alignAccFollowNode1" presStyleIdx="12" presStyleCnt="15"/>
      <dgm:spPr/>
    </dgm:pt>
    <dgm:pt modelId="{F15F7A76-66A6-464C-B0DC-BE7948DD64E3}" type="pres">
      <dgm:prSet presAssocID="{81487674-B138-4B7E-BE22-CD6728E1D7A5}" presName="lineArrowNode" presStyleLbl="alignAccFollowNode1" presStyleIdx="13" presStyleCnt="15"/>
      <dgm:spPr/>
    </dgm:pt>
    <dgm:pt modelId="{254E2B83-DFFC-4E16-9AB8-F02E8F57BFE4}" type="pres">
      <dgm:prSet presAssocID="{2D7A56B7-9319-4834-B22A-E4961FA30570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01F64C99-DA76-4984-851B-E09732140504}" type="pres">
      <dgm:prSet presAssocID="{2D7A56B7-9319-4834-B22A-E4961FA30570}" presName="spacerBetweenCircleAndCallout" presStyleCnt="0">
        <dgm:presLayoutVars/>
      </dgm:prSet>
      <dgm:spPr/>
    </dgm:pt>
    <dgm:pt modelId="{46E6E174-1008-477D-B762-D7D086EDCBFA}" type="pres">
      <dgm:prSet presAssocID="{81487674-B138-4B7E-BE22-CD6728E1D7A5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D9A16415-25C7-4C33-9A9C-D328023FB200}" srcId="{FF7901CF-6F2C-4F34-979C-CDB304B34DFD}" destId="{786CA7CA-1C35-4879-AF22-8D37FA17F1DA}" srcOrd="3" destOrd="0" parTransId="{374A95EE-77DF-4DCF-8C86-AB450A5F964C}" sibTransId="{D3A44532-A69D-4B91-A603-B0B81ABE5483}"/>
    <dgm:cxn modelId="{4EDD5520-9781-4472-99F3-078BEE9F08B9}" type="presOf" srcId="{DF79BE76-7019-4FC4-87E0-09D8AF469D0B}" destId="{93D4CE0F-C622-4C23-91DD-6E14504FCF50}" srcOrd="0" destOrd="0" presId="urn:microsoft.com/office/officeart/2016/7/layout/LinearArrowProcessNumbered"/>
    <dgm:cxn modelId="{5B11203B-46D6-4BEC-A254-5014DB22CFD0}" type="presOf" srcId="{3641632D-2275-41F1-9262-92DFE061789B}" destId="{E4AC17B5-5548-4753-AB9B-B26008368F58}" srcOrd="0" destOrd="0" presId="urn:microsoft.com/office/officeart/2016/7/layout/LinearArrowProcessNumbered"/>
    <dgm:cxn modelId="{C3417660-00D5-4355-AFEC-887B517A405F}" srcId="{FF7901CF-6F2C-4F34-979C-CDB304B34DFD}" destId="{E986C007-5982-4A3F-906A-301CDAB451A9}" srcOrd="0" destOrd="0" parTransId="{5D945573-7A13-4FE0-B22B-0603C34FDAA0}" sibTransId="{602D2045-75AC-4641-BF95-3D62BF1011F2}"/>
    <dgm:cxn modelId="{D801296C-565F-4554-BDBB-D70E8E5CC0D9}" type="presOf" srcId="{81487674-B138-4B7E-BE22-CD6728E1D7A5}" destId="{46E6E174-1008-477D-B762-D7D086EDCBFA}" srcOrd="0" destOrd="0" presId="urn:microsoft.com/office/officeart/2016/7/layout/LinearArrowProcessNumbered"/>
    <dgm:cxn modelId="{CD5B7E54-47B5-44D3-928C-F569DE23F9C4}" type="presOf" srcId="{DAAA135C-DDB7-49D8-9EB2-68F39E274111}" destId="{43C2AD95-18D2-46D1-984B-4DF913124D5E}" srcOrd="0" destOrd="0" presId="urn:microsoft.com/office/officeart/2016/7/layout/LinearArrowProcessNumbered"/>
    <dgm:cxn modelId="{57FDA77D-ADB3-4E7E-9FD3-C92FA777D742}" srcId="{FF7901CF-6F2C-4F34-979C-CDB304B34DFD}" destId="{DAAA135C-DDB7-49D8-9EB2-68F39E274111}" srcOrd="1" destOrd="0" parTransId="{2EFDD430-B25E-436A-96E8-1D0316AA9732}" sibTransId="{375D8589-E1EC-4283-B0C3-106A1931F157}"/>
    <dgm:cxn modelId="{650D5C9D-2A71-48C1-9027-8676E84B7CFF}" srcId="{FF7901CF-6F2C-4F34-979C-CDB304B34DFD}" destId="{DF79BE76-7019-4FC4-87E0-09D8AF469D0B}" srcOrd="2" destOrd="0" parTransId="{F728B094-62CF-4C4E-8F16-A2DBDD88ECA2}" sibTransId="{3641632D-2275-41F1-9262-92DFE061789B}"/>
    <dgm:cxn modelId="{7B10DDCF-26C1-4279-9172-7D57ABD297B8}" srcId="{FF7901CF-6F2C-4F34-979C-CDB304B34DFD}" destId="{81487674-B138-4B7E-BE22-CD6728E1D7A5}" srcOrd="4" destOrd="0" parTransId="{43F2CA0C-688A-452D-B459-65CE3CD76EE0}" sibTransId="{2D7A56B7-9319-4834-B22A-E4961FA30570}"/>
    <dgm:cxn modelId="{AB2B07DD-0D67-4952-903B-0DB6DE326AB4}" type="presOf" srcId="{786CA7CA-1C35-4879-AF22-8D37FA17F1DA}" destId="{3B782F7A-FFD6-437F-9FBC-2B4428838674}" srcOrd="0" destOrd="0" presId="urn:microsoft.com/office/officeart/2016/7/layout/LinearArrowProcessNumbered"/>
    <dgm:cxn modelId="{E11057DE-2FB1-49F0-8CBE-57E3670FE10B}" type="presOf" srcId="{375D8589-E1EC-4283-B0C3-106A1931F157}" destId="{FAE86807-0751-407C-B377-7B02332F1F93}" srcOrd="0" destOrd="0" presId="urn:microsoft.com/office/officeart/2016/7/layout/LinearArrowProcessNumbered"/>
    <dgm:cxn modelId="{8B748EE2-3CBB-4DEF-B9FD-D5ED5C8D7642}" type="presOf" srcId="{FF7901CF-6F2C-4F34-979C-CDB304B34DFD}" destId="{CACBC719-5857-495F-BFE8-636B3B200A01}" srcOrd="0" destOrd="0" presId="urn:microsoft.com/office/officeart/2016/7/layout/LinearArrowProcessNumbered"/>
    <dgm:cxn modelId="{876732F5-A93E-4FC4-ACEB-DBB1AF3EE17F}" type="presOf" srcId="{2D7A56B7-9319-4834-B22A-E4961FA30570}" destId="{254E2B83-DFFC-4E16-9AB8-F02E8F57BFE4}" srcOrd="0" destOrd="0" presId="urn:microsoft.com/office/officeart/2016/7/layout/LinearArrowProcessNumbered"/>
    <dgm:cxn modelId="{D3586EFE-82CA-45AD-9F6E-6E27BC95237D}" type="presOf" srcId="{E986C007-5982-4A3F-906A-301CDAB451A9}" destId="{34653A34-B544-4F74-94BA-182F92768504}" srcOrd="0" destOrd="0" presId="urn:microsoft.com/office/officeart/2016/7/layout/LinearArrowProcessNumbered"/>
    <dgm:cxn modelId="{3E36AAFE-5C03-4AE0-930D-63763942234C}" type="presOf" srcId="{602D2045-75AC-4641-BF95-3D62BF1011F2}" destId="{4BE5B327-5A1B-4FE5-9405-06872A7B2317}" srcOrd="0" destOrd="0" presId="urn:microsoft.com/office/officeart/2016/7/layout/LinearArrowProcessNumbered"/>
    <dgm:cxn modelId="{ECF293FF-3001-4467-8CA2-C1229912A514}" type="presOf" srcId="{D3A44532-A69D-4B91-A603-B0B81ABE5483}" destId="{3CF8EC10-BDB1-4653-8026-4EC22C48516E}" srcOrd="0" destOrd="0" presId="urn:microsoft.com/office/officeart/2016/7/layout/LinearArrowProcessNumbered"/>
    <dgm:cxn modelId="{1EB8DE5E-D3B8-4416-8ED3-2072F9970A6A}" type="presParOf" srcId="{CACBC719-5857-495F-BFE8-636B3B200A01}" destId="{F1D2524D-0CE3-478F-ACE9-9F9A4711BCCC}" srcOrd="0" destOrd="0" presId="urn:microsoft.com/office/officeart/2016/7/layout/LinearArrowProcessNumbered"/>
    <dgm:cxn modelId="{1626D1B4-8667-4D72-9A36-FA8FD08BF803}" type="presParOf" srcId="{F1D2524D-0CE3-478F-ACE9-9F9A4711BCCC}" destId="{2AD35532-297C-41EA-ACAD-6686885C3252}" srcOrd="0" destOrd="0" presId="urn:microsoft.com/office/officeart/2016/7/layout/LinearArrowProcessNumbered"/>
    <dgm:cxn modelId="{F3CC49E8-B94B-4498-A62A-2BE96ADBF625}" type="presParOf" srcId="{F1D2524D-0CE3-478F-ACE9-9F9A4711BCCC}" destId="{92A41BB3-0434-40E2-944E-072350229844}" srcOrd="1" destOrd="0" presId="urn:microsoft.com/office/officeart/2016/7/layout/LinearArrowProcessNumbered"/>
    <dgm:cxn modelId="{191EF0FC-8660-4154-9A4D-18ADC40E2277}" type="presParOf" srcId="{92A41BB3-0434-40E2-944E-072350229844}" destId="{DFCCC5C0-A80A-4874-8FEC-1BD9EDE2DD9E}" srcOrd="0" destOrd="0" presId="urn:microsoft.com/office/officeart/2016/7/layout/LinearArrowProcessNumbered"/>
    <dgm:cxn modelId="{2030A180-4E78-4946-A5C7-2AC9BCE28F6F}" type="presParOf" srcId="{92A41BB3-0434-40E2-944E-072350229844}" destId="{D693A190-948A-49A9-96E8-A2B747E4209E}" srcOrd="1" destOrd="0" presId="urn:microsoft.com/office/officeart/2016/7/layout/LinearArrowProcessNumbered"/>
    <dgm:cxn modelId="{ECDF9E3C-D0F8-406B-8185-7900752C5C70}" type="presParOf" srcId="{92A41BB3-0434-40E2-944E-072350229844}" destId="{4BE5B327-5A1B-4FE5-9405-06872A7B2317}" srcOrd="2" destOrd="0" presId="urn:microsoft.com/office/officeart/2016/7/layout/LinearArrowProcessNumbered"/>
    <dgm:cxn modelId="{C7E8FA1B-B666-4255-90FE-0B997E5F009F}" type="presParOf" srcId="{92A41BB3-0434-40E2-944E-072350229844}" destId="{CD59E98E-2401-4A7E-9C74-21B2870CB84E}" srcOrd="3" destOrd="0" presId="urn:microsoft.com/office/officeart/2016/7/layout/LinearArrowProcessNumbered"/>
    <dgm:cxn modelId="{43AC367A-BF78-4D74-BD48-EC1CBCFFD1F7}" type="presParOf" srcId="{F1D2524D-0CE3-478F-ACE9-9F9A4711BCCC}" destId="{34653A34-B544-4F74-94BA-182F92768504}" srcOrd="2" destOrd="0" presId="urn:microsoft.com/office/officeart/2016/7/layout/LinearArrowProcessNumbered"/>
    <dgm:cxn modelId="{FD88BC0D-8E8D-487B-9E53-255C0B1451AC}" type="presParOf" srcId="{CACBC719-5857-495F-BFE8-636B3B200A01}" destId="{25523DFA-AA29-4674-BEF1-D0512BA7C427}" srcOrd="1" destOrd="0" presId="urn:microsoft.com/office/officeart/2016/7/layout/LinearArrowProcessNumbered"/>
    <dgm:cxn modelId="{9CAE2429-8866-467A-AB8E-7B5504477AD6}" type="presParOf" srcId="{CACBC719-5857-495F-BFE8-636B3B200A01}" destId="{7D90A81A-615F-4059-A5A4-83789C1FD21F}" srcOrd="2" destOrd="0" presId="urn:microsoft.com/office/officeart/2016/7/layout/LinearArrowProcessNumbered"/>
    <dgm:cxn modelId="{272090B4-E4E3-48BC-8522-6A27B6018D8E}" type="presParOf" srcId="{7D90A81A-615F-4059-A5A4-83789C1FD21F}" destId="{3F09D272-48F2-4525-B48D-C941DA47432A}" srcOrd="0" destOrd="0" presId="urn:microsoft.com/office/officeart/2016/7/layout/LinearArrowProcessNumbered"/>
    <dgm:cxn modelId="{C3CFFA45-7C80-429C-87B9-294E9A8696F1}" type="presParOf" srcId="{7D90A81A-615F-4059-A5A4-83789C1FD21F}" destId="{09FFA161-676F-47B2-8A2B-FCF96CB24C91}" srcOrd="1" destOrd="0" presId="urn:microsoft.com/office/officeart/2016/7/layout/LinearArrowProcessNumbered"/>
    <dgm:cxn modelId="{E0EAA29B-B19D-495A-96D4-0807990C8B07}" type="presParOf" srcId="{09FFA161-676F-47B2-8A2B-FCF96CB24C91}" destId="{83BC5C07-C1ED-4E9A-B6BF-25F1083984EA}" srcOrd="0" destOrd="0" presId="urn:microsoft.com/office/officeart/2016/7/layout/LinearArrowProcessNumbered"/>
    <dgm:cxn modelId="{AF9E6CCE-0469-49F2-8397-9F61D49DF6AA}" type="presParOf" srcId="{09FFA161-676F-47B2-8A2B-FCF96CB24C91}" destId="{A760C346-7152-4735-9EBA-4D700FBCE6E3}" srcOrd="1" destOrd="0" presId="urn:microsoft.com/office/officeart/2016/7/layout/LinearArrowProcessNumbered"/>
    <dgm:cxn modelId="{B14B2AAA-A6F1-4A6D-9DAA-98BF99F7F7BD}" type="presParOf" srcId="{09FFA161-676F-47B2-8A2B-FCF96CB24C91}" destId="{FAE86807-0751-407C-B377-7B02332F1F93}" srcOrd="2" destOrd="0" presId="urn:microsoft.com/office/officeart/2016/7/layout/LinearArrowProcessNumbered"/>
    <dgm:cxn modelId="{9974FE09-9FDD-47D9-B3D5-7CA1A0BD8754}" type="presParOf" srcId="{09FFA161-676F-47B2-8A2B-FCF96CB24C91}" destId="{EC0D5D38-3759-4923-8CD5-E19C9A755267}" srcOrd="3" destOrd="0" presId="urn:microsoft.com/office/officeart/2016/7/layout/LinearArrowProcessNumbered"/>
    <dgm:cxn modelId="{76204A4E-4F76-44DA-A7CA-87E468ECF5EB}" type="presParOf" srcId="{7D90A81A-615F-4059-A5A4-83789C1FD21F}" destId="{43C2AD95-18D2-46D1-984B-4DF913124D5E}" srcOrd="2" destOrd="0" presId="urn:microsoft.com/office/officeart/2016/7/layout/LinearArrowProcessNumbered"/>
    <dgm:cxn modelId="{0279818D-5B4B-423B-B255-A3A288598493}" type="presParOf" srcId="{CACBC719-5857-495F-BFE8-636B3B200A01}" destId="{B611A321-32A0-42A5-A10C-C7EFC165C939}" srcOrd="3" destOrd="0" presId="urn:microsoft.com/office/officeart/2016/7/layout/LinearArrowProcessNumbered"/>
    <dgm:cxn modelId="{45F33800-78CA-4039-BA19-1159BD924197}" type="presParOf" srcId="{CACBC719-5857-495F-BFE8-636B3B200A01}" destId="{9D277B01-D324-44C5-909E-D52B832B9737}" srcOrd="4" destOrd="0" presId="urn:microsoft.com/office/officeart/2016/7/layout/LinearArrowProcessNumbered"/>
    <dgm:cxn modelId="{D6B165E5-2EAC-476A-9D1E-504A49A45BBD}" type="presParOf" srcId="{9D277B01-D324-44C5-909E-D52B832B9737}" destId="{2F5219EE-0185-419B-84E5-74A38CCE8554}" srcOrd="0" destOrd="0" presId="urn:microsoft.com/office/officeart/2016/7/layout/LinearArrowProcessNumbered"/>
    <dgm:cxn modelId="{4C43E6B6-C3F7-4251-B319-EA98084B347F}" type="presParOf" srcId="{9D277B01-D324-44C5-909E-D52B832B9737}" destId="{02873CA8-D0DF-4BD0-A3BA-D92C94B58F84}" srcOrd="1" destOrd="0" presId="urn:microsoft.com/office/officeart/2016/7/layout/LinearArrowProcessNumbered"/>
    <dgm:cxn modelId="{0C5FB119-5850-4E69-B7A4-E83A6E77581D}" type="presParOf" srcId="{02873CA8-D0DF-4BD0-A3BA-D92C94B58F84}" destId="{C4AA134B-E0A2-4E53-B7C8-4006414F3F09}" srcOrd="0" destOrd="0" presId="urn:microsoft.com/office/officeart/2016/7/layout/LinearArrowProcessNumbered"/>
    <dgm:cxn modelId="{8E03BB2B-894D-4623-BD8B-0D6E2AA677F7}" type="presParOf" srcId="{02873CA8-D0DF-4BD0-A3BA-D92C94B58F84}" destId="{6041AA24-2FB4-4078-A2D7-D8CB53F279A2}" srcOrd="1" destOrd="0" presId="urn:microsoft.com/office/officeart/2016/7/layout/LinearArrowProcessNumbered"/>
    <dgm:cxn modelId="{2D26F78F-6C31-462D-82C0-0381A3EDDB80}" type="presParOf" srcId="{02873CA8-D0DF-4BD0-A3BA-D92C94B58F84}" destId="{E4AC17B5-5548-4753-AB9B-B26008368F58}" srcOrd="2" destOrd="0" presId="urn:microsoft.com/office/officeart/2016/7/layout/LinearArrowProcessNumbered"/>
    <dgm:cxn modelId="{DB3E6E48-8B7C-4D49-8903-D578707BAB14}" type="presParOf" srcId="{02873CA8-D0DF-4BD0-A3BA-D92C94B58F84}" destId="{4AC411B1-E7A2-4A7E-BD8F-A39CD273142A}" srcOrd="3" destOrd="0" presId="urn:microsoft.com/office/officeart/2016/7/layout/LinearArrowProcessNumbered"/>
    <dgm:cxn modelId="{0E2AFAD0-CFAA-474E-B942-EFF89B69FC6B}" type="presParOf" srcId="{9D277B01-D324-44C5-909E-D52B832B9737}" destId="{93D4CE0F-C622-4C23-91DD-6E14504FCF50}" srcOrd="2" destOrd="0" presId="urn:microsoft.com/office/officeart/2016/7/layout/LinearArrowProcessNumbered"/>
    <dgm:cxn modelId="{9B8ECDBF-7D65-4E87-8AD7-7AE3904C02F7}" type="presParOf" srcId="{CACBC719-5857-495F-BFE8-636B3B200A01}" destId="{98D7544E-533B-4EAE-BB27-CCD383555948}" srcOrd="5" destOrd="0" presId="urn:microsoft.com/office/officeart/2016/7/layout/LinearArrowProcessNumbered"/>
    <dgm:cxn modelId="{FE666B08-E114-4AAA-B198-54966DBB06A1}" type="presParOf" srcId="{CACBC719-5857-495F-BFE8-636B3B200A01}" destId="{900C5A4A-184E-4629-BFA8-256DCD8670D2}" srcOrd="6" destOrd="0" presId="urn:microsoft.com/office/officeart/2016/7/layout/LinearArrowProcessNumbered"/>
    <dgm:cxn modelId="{3C69DC62-C64A-4C5B-BF3E-17D235602237}" type="presParOf" srcId="{900C5A4A-184E-4629-BFA8-256DCD8670D2}" destId="{FC8E35B8-9570-4380-9E2A-920AC3D9150D}" srcOrd="0" destOrd="0" presId="urn:microsoft.com/office/officeart/2016/7/layout/LinearArrowProcessNumbered"/>
    <dgm:cxn modelId="{43618E5A-C09B-432D-AD48-3F22A643F508}" type="presParOf" srcId="{900C5A4A-184E-4629-BFA8-256DCD8670D2}" destId="{2B92FE88-DFFC-439E-91D3-E3C44588E1C0}" srcOrd="1" destOrd="0" presId="urn:microsoft.com/office/officeart/2016/7/layout/LinearArrowProcessNumbered"/>
    <dgm:cxn modelId="{F92D37AB-F0E3-481D-88B3-9C627BBC0BF7}" type="presParOf" srcId="{2B92FE88-DFFC-439E-91D3-E3C44588E1C0}" destId="{79280A4B-6EF5-4081-ACED-8034FE61D864}" srcOrd="0" destOrd="0" presId="urn:microsoft.com/office/officeart/2016/7/layout/LinearArrowProcessNumbered"/>
    <dgm:cxn modelId="{AAD1E929-EE20-4614-8983-4FE0EFD2FCBA}" type="presParOf" srcId="{2B92FE88-DFFC-439E-91D3-E3C44588E1C0}" destId="{ED1A50FA-E59B-4CCA-A0FF-D9BD6E4E874E}" srcOrd="1" destOrd="0" presId="urn:microsoft.com/office/officeart/2016/7/layout/LinearArrowProcessNumbered"/>
    <dgm:cxn modelId="{563DC4AF-AA09-42E4-853F-46CCFD7AECE8}" type="presParOf" srcId="{2B92FE88-DFFC-439E-91D3-E3C44588E1C0}" destId="{3CF8EC10-BDB1-4653-8026-4EC22C48516E}" srcOrd="2" destOrd="0" presId="urn:microsoft.com/office/officeart/2016/7/layout/LinearArrowProcessNumbered"/>
    <dgm:cxn modelId="{7CE4CF01-F86E-445D-B2C6-14773E0E5669}" type="presParOf" srcId="{2B92FE88-DFFC-439E-91D3-E3C44588E1C0}" destId="{61FF3597-08DD-4B9A-B1C4-0D673AF5CAF5}" srcOrd="3" destOrd="0" presId="urn:microsoft.com/office/officeart/2016/7/layout/LinearArrowProcessNumbered"/>
    <dgm:cxn modelId="{8C9A1688-C73D-4C4C-9048-105F9D781110}" type="presParOf" srcId="{900C5A4A-184E-4629-BFA8-256DCD8670D2}" destId="{3B782F7A-FFD6-437F-9FBC-2B4428838674}" srcOrd="2" destOrd="0" presId="urn:microsoft.com/office/officeart/2016/7/layout/LinearArrowProcessNumbered"/>
    <dgm:cxn modelId="{2AA44BED-692B-4A10-8B23-C2CC7F1FB938}" type="presParOf" srcId="{CACBC719-5857-495F-BFE8-636B3B200A01}" destId="{395E44E5-F3FD-4352-B58B-7A7022958CD1}" srcOrd="7" destOrd="0" presId="urn:microsoft.com/office/officeart/2016/7/layout/LinearArrowProcessNumbered"/>
    <dgm:cxn modelId="{0CC31E4E-2EAA-4A5E-9894-2E2CA8DAED15}" type="presParOf" srcId="{CACBC719-5857-495F-BFE8-636B3B200A01}" destId="{FE5A34D0-5FB6-4DE0-B1C3-AD7A136730DF}" srcOrd="8" destOrd="0" presId="urn:microsoft.com/office/officeart/2016/7/layout/LinearArrowProcessNumbered"/>
    <dgm:cxn modelId="{EF7524B9-6273-4ABF-AD80-B78674EC0C67}" type="presParOf" srcId="{FE5A34D0-5FB6-4DE0-B1C3-AD7A136730DF}" destId="{71788B3B-38F9-40E5-8D9E-B73D15303F4B}" srcOrd="0" destOrd="0" presId="urn:microsoft.com/office/officeart/2016/7/layout/LinearArrowProcessNumbered"/>
    <dgm:cxn modelId="{C29A568A-E3A4-4E08-B81E-0D98778E7732}" type="presParOf" srcId="{FE5A34D0-5FB6-4DE0-B1C3-AD7A136730DF}" destId="{EF0A61B5-DB8A-43DE-A0A8-B36D15A1DFAB}" srcOrd="1" destOrd="0" presId="urn:microsoft.com/office/officeart/2016/7/layout/LinearArrowProcessNumbered"/>
    <dgm:cxn modelId="{6614259E-2500-4DE4-8553-CFC9CBDB21FD}" type="presParOf" srcId="{EF0A61B5-DB8A-43DE-A0A8-B36D15A1DFAB}" destId="{2C8E8B8E-6CC2-41B2-A085-6EF360E4EF81}" srcOrd="0" destOrd="0" presId="urn:microsoft.com/office/officeart/2016/7/layout/LinearArrowProcessNumbered"/>
    <dgm:cxn modelId="{E18E84BB-8657-4187-B19F-9562C22640CC}" type="presParOf" srcId="{EF0A61B5-DB8A-43DE-A0A8-B36D15A1DFAB}" destId="{F15F7A76-66A6-464C-B0DC-BE7948DD64E3}" srcOrd="1" destOrd="0" presId="urn:microsoft.com/office/officeart/2016/7/layout/LinearArrowProcessNumbered"/>
    <dgm:cxn modelId="{40CFA951-0C49-4BB9-B0B1-AE846AF7C3F4}" type="presParOf" srcId="{EF0A61B5-DB8A-43DE-A0A8-B36D15A1DFAB}" destId="{254E2B83-DFFC-4E16-9AB8-F02E8F57BFE4}" srcOrd="2" destOrd="0" presId="urn:microsoft.com/office/officeart/2016/7/layout/LinearArrowProcessNumbered"/>
    <dgm:cxn modelId="{247F3288-9BCA-401F-B0ED-96F94917BB18}" type="presParOf" srcId="{EF0A61B5-DB8A-43DE-A0A8-B36D15A1DFAB}" destId="{01F64C99-DA76-4984-851B-E09732140504}" srcOrd="3" destOrd="0" presId="urn:microsoft.com/office/officeart/2016/7/layout/LinearArrowProcessNumbered"/>
    <dgm:cxn modelId="{BAB495E9-3210-44C2-A023-DCCB18ED05B0}" type="presParOf" srcId="{FE5A34D0-5FB6-4DE0-B1C3-AD7A136730DF}" destId="{46E6E174-1008-477D-B762-D7D086EDCBF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15211-3DE4-45A1-B42F-98B3EB18F0D1}">
      <dsp:nvSpPr>
        <dsp:cNvPr id="0" name=""/>
        <dsp:cNvSpPr/>
      </dsp:nvSpPr>
      <dsp:spPr>
        <a:xfrm>
          <a:off x="0" y="642"/>
          <a:ext cx="512415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30DAD4-3952-491E-8BF8-216B74D94851}">
      <dsp:nvSpPr>
        <dsp:cNvPr id="0" name=""/>
        <dsp:cNvSpPr/>
      </dsp:nvSpPr>
      <dsp:spPr>
        <a:xfrm>
          <a:off x="0" y="642"/>
          <a:ext cx="5124159" cy="105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Q1 Revenue: $14M | 163K Transactions</a:t>
          </a:r>
          <a:endParaRPr lang="en-US" sz="2100" kern="1200"/>
        </a:p>
      </dsp:txBody>
      <dsp:txXfrm>
        <a:off x="0" y="642"/>
        <a:ext cx="5124159" cy="1052698"/>
      </dsp:txXfrm>
    </dsp:sp>
    <dsp:sp modelId="{47E5B87A-668E-4BE7-9940-29735817D816}">
      <dsp:nvSpPr>
        <dsp:cNvPr id="0" name=""/>
        <dsp:cNvSpPr/>
      </dsp:nvSpPr>
      <dsp:spPr>
        <a:xfrm>
          <a:off x="0" y="1053341"/>
          <a:ext cx="5124159" cy="0"/>
        </a:xfrm>
        <a:prstGeom prst="line">
          <a:avLst/>
        </a:prstGeom>
        <a:gradFill rotWithShape="0">
          <a:gsLst>
            <a:gs pos="0">
              <a:schemeClr val="accent2">
                <a:hueOff val="223432"/>
                <a:satOff val="-4791"/>
                <a:lumOff val="-1863"/>
                <a:alphaOff val="0"/>
                <a:tint val="96000"/>
                <a:lumMod val="104000"/>
              </a:schemeClr>
            </a:gs>
            <a:gs pos="100000">
              <a:schemeClr val="accent2">
                <a:hueOff val="223432"/>
                <a:satOff val="-4791"/>
                <a:lumOff val="-1863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223432"/>
              <a:satOff val="-4791"/>
              <a:lumOff val="-186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E25078-6E6C-4A1D-8EEB-37DD4CDCFF27}">
      <dsp:nvSpPr>
        <dsp:cNvPr id="0" name=""/>
        <dsp:cNvSpPr/>
      </dsp:nvSpPr>
      <dsp:spPr>
        <a:xfrm>
          <a:off x="0" y="1053341"/>
          <a:ext cx="5124159" cy="105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Q2 Revenue: $14M | 162K Transactions</a:t>
          </a:r>
          <a:endParaRPr lang="en-US" sz="2100" kern="1200"/>
        </a:p>
      </dsp:txBody>
      <dsp:txXfrm>
        <a:off x="0" y="1053341"/>
        <a:ext cx="5124159" cy="1052698"/>
      </dsp:txXfrm>
    </dsp:sp>
    <dsp:sp modelId="{A9BBDE66-51AB-4521-98E1-80EF079332E1}">
      <dsp:nvSpPr>
        <dsp:cNvPr id="0" name=""/>
        <dsp:cNvSpPr/>
      </dsp:nvSpPr>
      <dsp:spPr>
        <a:xfrm>
          <a:off x="0" y="2106040"/>
          <a:ext cx="5124159" cy="0"/>
        </a:xfrm>
        <a:prstGeom prst="line">
          <a:avLst/>
        </a:prstGeom>
        <a:gradFill rotWithShape="0">
          <a:gsLst>
            <a:gs pos="0">
              <a:schemeClr val="accent2">
                <a:hueOff val="446864"/>
                <a:satOff val="-9581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2">
                <a:hueOff val="446864"/>
                <a:satOff val="-9581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446864"/>
              <a:satOff val="-9581"/>
              <a:lumOff val="-372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99218D-5EAF-4B4F-AC2D-38EEC881A1C8}">
      <dsp:nvSpPr>
        <dsp:cNvPr id="0" name=""/>
        <dsp:cNvSpPr/>
      </dsp:nvSpPr>
      <dsp:spPr>
        <a:xfrm>
          <a:off x="0" y="2106040"/>
          <a:ext cx="5124159" cy="105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Q3 Revenue: $14M | 167K Transactions</a:t>
          </a:r>
          <a:endParaRPr lang="en-US" sz="2100" kern="1200"/>
        </a:p>
      </dsp:txBody>
      <dsp:txXfrm>
        <a:off x="0" y="2106040"/>
        <a:ext cx="5124159" cy="1052698"/>
      </dsp:txXfrm>
    </dsp:sp>
    <dsp:sp modelId="{56EDB9DA-35E5-482A-8325-60A1AB92E1D7}">
      <dsp:nvSpPr>
        <dsp:cNvPr id="0" name=""/>
        <dsp:cNvSpPr/>
      </dsp:nvSpPr>
      <dsp:spPr>
        <a:xfrm>
          <a:off x="0" y="3158738"/>
          <a:ext cx="5124159" cy="0"/>
        </a:xfrm>
        <a:prstGeom prst="line">
          <a:avLst/>
        </a:prstGeom>
        <a:gradFill rotWithShape="0">
          <a:gsLst>
            <a:gs pos="0">
              <a:schemeClr val="accent2">
                <a:hueOff val="670295"/>
                <a:satOff val="-14372"/>
                <a:lumOff val="-5588"/>
                <a:alphaOff val="0"/>
                <a:tint val="96000"/>
                <a:lumMod val="104000"/>
              </a:schemeClr>
            </a:gs>
            <a:gs pos="100000">
              <a:schemeClr val="accent2">
                <a:hueOff val="670295"/>
                <a:satOff val="-14372"/>
                <a:lumOff val="-5588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670295"/>
              <a:satOff val="-14372"/>
              <a:lumOff val="-558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422A7D-F210-4715-872B-AF07E23C3DC0}">
      <dsp:nvSpPr>
        <dsp:cNvPr id="0" name=""/>
        <dsp:cNvSpPr/>
      </dsp:nvSpPr>
      <dsp:spPr>
        <a:xfrm>
          <a:off x="0" y="3158738"/>
          <a:ext cx="5124159" cy="105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Q4 Revenue: $13M | 164K Transactions</a:t>
          </a:r>
          <a:endParaRPr lang="en-US" sz="2100" kern="1200"/>
        </a:p>
      </dsp:txBody>
      <dsp:txXfrm>
        <a:off x="0" y="3158738"/>
        <a:ext cx="5124159" cy="1052698"/>
      </dsp:txXfrm>
    </dsp:sp>
    <dsp:sp modelId="{122B8996-680F-43EE-8384-2F5537537935}">
      <dsp:nvSpPr>
        <dsp:cNvPr id="0" name=""/>
        <dsp:cNvSpPr/>
      </dsp:nvSpPr>
      <dsp:spPr>
        <a:xfrm>
          <a:off x="0" y="4211437"/>
          <a:ext cx="5124159" cy="0"/>
        </a:xfrm>
        <a:prstGeom prst="line">
          <a:avLst/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893727"/>
              <a:satOff val="-19162"/>
              <a:lumOff val="-745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1A5578-FF9D-4E54-A66B-FFA3ECA0E560}">
      <dsp:nvSpPr>
        <dsp:cNvPr id="0" name=""/>
        <dsp:cNvSpPr/>
      </dsp:nvSpPr>
      <dsp:spPr>
        <a:xfrm>
          <a:off x="0" y="4211437"/>
          <a:ext cx="5124159" cy="1052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Minor dip in Q4 indicates possible seasonal effects or moderated post-festive spending.</a:t>
          </a:r>
          <a:endParaRPr lang="en-US" sz="2100" kern="1200"/>
        </a:p>
      </dsp:txBody>
      <dsp:txXfrm>
        <a:off x="0" y="4211437"/>
        <a:ext cx="5124159" cy="1052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1EB6A-7972-459B-9721-456892EED517}">
      <dsp:nvSpPr>
        <dsp:cNvPr id="0" name=""/>
        <dsp:cNvSpPr/>
      </dsp:nvSpPr>
      <dsp:spPr>
        <a:xfrm>
          <a:off x="0" y="2139"/>
          <a:ext cx="5124159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Steady quarterly performance with a small Q4 dip.</a:t>
          </a:r>
        </a:p>
      </dsp:txBody>
      <dsp:txXfrm>
        <a:off x="48547" y="50686"/>
        <a:ext cx="5027065" cy="897406"/>
      </dsp:txXfrm>
    </dsp:sp>
    <dsp:sp modelId="{D74EE042-FB96-4365-8B49-CC81ADB2DE86}">
      <dsp:nvSpPr>
        <dsp:cNvPr id="0" name=""/>
        <dsp:cNvSpPr/>
      </dsp:nvSpPr>
      <dsp:spPr>
        <a:xfrm>
          <a:off x="0" y="1068639"/>
          <a:ext cx="5124159" cy="994500"/>
        </a:xfrm>
        <a:prstGeom prst="roundRect">
          <a:avLst/>
        </a:prstGeom>
        <a:gradFill rotWithShape="0">
          <a:gsLst>
            <a:gs pos="0">
              <a:schemeClr val="accent2">
                <a:hueOff val="223432"/>
                <a:satOff val="-4791"/>
                <a:lumOff val="-1863"/>
                <a:alphaOff val="0"/>
                <a:tint val="96000"/>
                <a:lumMod val="104000"/>
              </a:schemeClr>
            </a:gs>
            <a:gs pos="100000">
              <a:schemeClr val="accent2">
                <a:hueOff val="223432"/>
                <a:satOff val="-4791"/>
                <a:lumOff val="-186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Bills and Entertainment drive the largest spend.</a:t>
          </a:r>
        </a:p>
      </dsp:txBody>
      <dsp:txXfrm>
        <a:off x="48547" y="1117186"/>
        <a:ext cx="5027065" cy="897406"/>
      </dsp:txXfrm>
    </dsp:sp>
    <dsp:sp modelId="{5484637B-3E86-41FA-9E7B-A59F1F24ACDB}">
      <dsp:nvSpPr>
        <dsp:cNvPr id="0" name=""/>
        <dsp:cNvSpPr/>
      </dsp:nvSpPr>
      <dsp:spPr>
        <a:xfrm>
          <a:off x="0" y="2135139"/>
          <a:ext cx="5124159" cy="994500"/>
        </a:xfrm>
        <a:prstGeom prst="roundRect">
          <a:avLst/>
        </a:prstGeom>
        <a:gradFill rotWithShape="0">
          <a:gsLst>
            <a:gs pos="0">
              <a:schemeClr val="accent2">
                <a:hueOff val="446864"/>
                <a:satOff val="-9581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2">
                <a:hueOff val="446864"/>
                <a:satOff val="-9581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Graduates and Businessmen lead revenue share.</a:t>
          </a:r>
        </a:p>
      </dsp:txBody>
      <dsp:txXfrm>
        <a:off x="48547" y="2183686"/>
        <a:ext cx="5027065" cy="897406"/>
      </dsp:txXfrm>
    </dsp:sp>
    <dsp:sp modelId="{FE98EFF6-9DBA-4471-B954-3F78BD02CB66}">
      <dsp:nvSpPr>
        <dsp:cNvPr id="0" name=""/>
        <dsp:cNvSpPr/>
      </dsp:nvSpPr>
      <dsp:spPr>
        <a:xfrm>
          <a:off x="0" y="3201639"/>
          <a:ext cx="5124159" cy="994500"/>
        </a:xfrm>
        <a:prstGeom prst="roundRect">
          <a:avLst/>
        </a:prstGeom>
        <a:gradFill rotWithShape="0">
          <a:gsLst>
            <a:gs pos="0">
              <a:schemeClr val="accent2">
                <a:hueOff val="670295"/>
                <a:satOff val="-14372"/>
                <a:lumOff val="-5588"/>
                <a:alphaOff val="0"/>
                <a:tint val="96000"/>
                <a:lumMod val="104000"/>
              </a:schemeClr>
            </a:gs>
            <a:gs pos="100000">
              <a:schemeClr val="accent2">
                <a:hueOff val="670295"/>
                <a:satOff val="-14372"/>
                <a:lumOff val="-5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Blue Card users contribute most of the portfolio income.</a:t>
          </a:r>
        </a:p>
      </dsp:txBody>
      <dsp:txXfrm>
        <a:off x="48547" y="3250186"/>
        <a:ext cx="5027065" cy="897406"/>
      </dsp:txXfrm>
    </dsp:sp>
    <dsp:sp modelId="{01A31822-C49B-4627-9BF4-41A0F5BEE269}">
      <dsp:nvSpPr>
        <dsp:cNvPr id="0" name=""/>
        <dsp:cNvSpPr/>
      </dsp:nvSpPr>
      <dsp:spPr>
        <a:xfrm>
          <a:off x="0" y="4268139"/>
          <a:ext cx="5124159" cy="994500"/>
        </a:xfrm>
        <a:prstGeom prst="roundRect">
          <a:avLst/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 dependency from low-income and senior segments.</a:t>
          </a:r>
        </a:p>
      </dsp:txBody>
      <dsp:txXfrm>
        <a:off x="48547" y="4316686"/>
        <a:ext cx="5027065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CC5C0-A80A-4874-8FEC-1BD9EDE2DD9E}">
      <dsp:nvSpPr>
        <dsp:cNvPr id="0" name=""/>
        <dsp:cNvSpPr/>
      </dsp:nvSpPr>
      <dsp:spPr>
        <a:xfrm>
          <a:off x="770685" y="651733"/>
          <a:ext cx="615796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3A190-948A-49A9-96E8-A2B747E4209E}">
      <dsp:nvSpPr>
        <dsp:cNvPr id="0" name=""/>
        <dsp:cNvSpPr/>
      </dsp:nvSpPr>
      <dsp:spPr>
        <a:xfrm>
          <a:off x="1423430" y="600042"/>
          <a:ext cx="70816" cy="133009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166627"/>
            <a:satOff val="-1352"/>
            <a:lumOff val="-14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66627"/>
              <a:satOff val="-1352"/>
              <a:lumOff val="-14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5B327-5A1B-4FE5-9405-06872A7B2317}">
      <dsp:nvSpPr>
        <dsp:cNvPr id="0" name=""/>
        <dsp:cNvSpPr/>
      </dsp:nvSpPr>
      <dsp:spPr>
        <a:xfrm>
          <a:off x="407033" y="365091"/>
          <a:ext cx="573356" cy="57335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49" tIns="22249" rIns="22249" bIns="2224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</a:t>
          </a:r>
        </a:p>
      </dsp:txBody>
      <dsp:txXfrm>
        <a:off x="490999" y="449057"/>
        <a:ext cx="405424" cy="405424"/>
      </dsp:txXfrm>
    </dsp:sp>
    <dsp:sp modelId="{34653A34-B544-4F74-94BA-182F92768504}">
      <dsp:nvSpPr>
        <dsp:cNvPr id="0" name=""/>
        <dsp:cNvSpPr/>
      </dsp:nvSpPr>
      <dsp:spPr>
        <a:xfrm>
          <a:off x="939" y="1104046"/>
          <a:ext cx="13855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333253"/>
            <a:satOff val="-2705"/>
            <a:lumOff val="-29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333253"/>
              <a:satOff val="-2705"/>
              <a:lumOff val="-2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93" tIns="165100" rIns="10929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Launch premium rewards for Blue &amp; Silver cardholders.</a:t>
          </a:r>
        </a:p>
      </dsp:txBody>
      <dsp:txXfrm>
        <a:off x="939" y="1381154"/>
        <a:ext cx="1385542" cy="1688492"/>
      </dsp:txXfrm>
    </dsp:sp>
    <dsp:sp modelId="{83BC5C07-C1ED-4E9A-B6BF-25F1083984EA}">
      <dsp:nvSpPr>
        <dsp:cNvPr id="0" name=""/>
        <dsp:cNvSpPr/>
      </dsp:nvSpPr>
      <dsp:spPr>
        <a:xfrm>
          <a:off x="1540431" y="651732"/>
          <a:ext cx="1385542" cy="71"/>
        </a:xfrm>
        <a:prstGeom prst="rect">
          <a:avLst/>
        </a:prstGeom>
        <a:solidFill>
          <a:schemeClr val="accent5">
            <a:tint val="40000"/>
            <a:alpha val="90000"/>
            <a:hueOff val="499880"/>
            <a:satOff val="-4057"/>
            <a:lumOff val="-441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499880"/>
              <a:satOff val="-4057"/>
              <a:lumOff val="-4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0C346-7152-4735-9EBA-4D700FBCE6E3}">
      <dsp:nvSpPr>
        <dsp:cNvPr id="0" name=""/>
        <dsp:cNvSpPr/>
      </dsp:nvSpPr>
      <dsp:spPr>
        <a:xfrm>
          <a:off x="2962922" y="600041"/>
          <a:ext cx="70816" cy="133011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666506"/>
            <a:satOff val="-5410"/>
            <a:lumOff val="-589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666506"/>
              <a:satOff val="-5410"/>
              <a:lumOff val="-58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86807-0751-407C-B377-7B02332F1F93}">
      <dsp:nvSpPr>
        <dsp:cNvPr id="0" name=""/>
        <dsp:cNvSpPr/>
      </dsp:nvSpPr>
      <dsp:spPr>
        <a:xfrm>
          <a:off x="1946525" y="365090"/>
          <a:ext cx="573356" cy="573356"/>
        </a:xfrm>
        <a:prstGeom prst="ellipse">
          <a:avLst/>
        </a:prstGeom>
        <a:gradFill rotWithShape="0">
          <a:gsLst>
            <a:gs pos="0">
              <a:schemeClr val="accent5">
                <a:hueOff val="537473"/>
                <a:satOff val="-5808"/>
                <a:lumOff val="-1863"/>
                <a:alphaOff val="0"/>
                <a:tint val="96000"/>
                <a:lumMod val="104000"/>
              </a:schemeClr>
            </a:gs>
            <a:gs pos="100000">
              <a:schemeClr val="accent5">
                <a:hueOff val="537473"/>
                <a:satOff val="-5808"/>
                <a:lumOff val="-1863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537473"/>
              <a:satOff val="-5808"/>
              <a:lumOff val="-186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49" tIns="22249" rIns="22249" bIns="2224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</a:t>
          </a:r>
        </a:p>
      </dsp:txBody>
      <dsp:txXfrm>
        <a:off x="2030491" y="449056"/>
        <a:ext cx="405424" cy="405424"/>
      </dsp:txXfrm>
    </dsp:sp>
    <dsp:sp modelId="{43C2AD95-18D2-46D1-984B-4DF913124D5E}">
      <dsp:nvSpPr>
        <dsp:cNvPr id="0" name=""/>
        <dsp:cNvSpPr/>
      </dsp:nvSpPr>
      <dsp:spPr>
        <a:xfrm>
          <a:off x="1540431" y="1104046"/>
          <a:ext cx="13855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833133"/>
            <a:satOff val="-6762"/>
            <a:lumOff val="-73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833133"/>
              <a:satOff val="-6762"/>
              <a:lumOff val="-73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93" tIns="165100" rIns="10929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Offer lifestyle-based cashback in Bills, Entertainment, and Travel categories.</a:t>
          </a:r>
        </a:p>
      </dsp:txBody>
      <dsp:txXfrm>
        <a:off x="1540431" y="1381154"/>
        <a:ext cx="1385542" cy="1688492"/>
      </dsp:txXfrm>
    </dsp:sp>
    <dsp:sp modelId="{C4AA134B-E0A2-4E53-B7C8-4006414F3F09}">
      <dsp:nvSpPr>
        <dsp:cNvPr id="0" name=""/>
        <dsp:cNvSpPr/>
      </dsp:nvSpPr>
      <dsp:spPr>
        <a:xfrm>
          <a:off x="3079923" y="651732"/>
          <a:ext cx="1385542" cy="71"/>
        </a:xfrm>
        <a:prstGeom prst="rect">
          <a:avLst/>
        </a:prstGeom>
        <a:solidFill>
          <a:schemeClr val="accent5">
            <a:tint val="40000"/>
            <a:alpha val="90000"/>
            <a:hueOff val="999759"/>
            <a:satOff val="-8115"/>
            <a:lumOff val="-883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999759"/>
              <a:satOff val="-8115"/>
              <a:lumOff val="-8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1AA24-2FB4-4078-A2D7-D8CB53F279A2}">
      <dsp:nvSpPr>
        <dsp:cNvPr id="0" name=""/>
        <dsp:cNvSpPr/>
      </dsp:nvSpPr>
      <dsp:spPr>
        <a:xfrm>
          <a:off x="4502414" y="600041"/>
          <a:ext cx="70816" cy="133011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1166386"/>
            <a:satOff val="-9467"/>
            <a:lumOff val="-103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166386"/>
              <a:satOff val="-9467"/>
              <a:lumOff val="-10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C17B5-5548-4753-AB9B-B26008368F58}">
      <dsp:nvSpPr>
        <dsp:cNvPr id="0" name=""/>
        <dsp:cNvSpPr/>
      </dsp:nvSpPr>
      <dsp:spPr>
        <a:xfrm>
          <a:off x="3486016" y="365090"/>
          <a:ext cx="573356" cy="573356"/>
        </a:xfrm>
        <a:prstGeom prst="ellipse">
          <a:avLst/>
        </a:prstGeom>
        <a:gradFill rotWithShape="0">
          <a:gsLst>
            <a:gs pos="0">
              <a:schemeClr val="accent5">
                <a:hueOff val="1074947"/>
                <a:satOff val="-11617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5">
                <a:hueOff val="1074947"/>
                <a:satOff val="-11617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1074947"/>
              <a:satOff val="-11617"/>
              <a:lumOff val="-372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49" tIns="22249" rIns="22249" bIns="2224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</a:t>
          </a:r>
        </a:p>
      </dsp:txBody>
      <dsp:txXfrm>
        <a:off x="3569982" y="449056"/>
        <a:ext cx="405424" cy="405424"/>
      </dsp:txXfrm>
    </dsp:sp>
    <dsp:sp modelId="{93D4CE0F-C622-4C23-91DD-6E14504FCF50}">
      <dsp:nvSpPr>
        <dsp:cNvPr id="0" name=""/>
        <dsp:cNvSpPr/>
      </dsp:nvSpPr>
      <dsp:spPr>
        <a:xfrm>
          <a:off x="3079923" y="1104046"/>
          <a:ext cx="13855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333013"/>
            <a:satOff val="-10819"/>
            <a:lumOff val="-117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333013"/>
              <a:satOff val="-10819"/>
              <a:lumOff val="-117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93" tIns="165100" rIns="10929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Educate low-income groups on credit optimization.</a:t>
          </a:r>
        </a:p>
      </dsp:txBody>
      <dsp:txXfrm>
        <a:off x="3079923" y="1381154"/>
        <a:ext cx="1385542" cy="1688492"/>
      </dsp:txXfrm>
    </dsp:sp>
    <dsp:sp modelId="{79280A4B-6EF5-4081-ACED-8034FE61D864}">
      <dsp:nvSpPr>
        <dsp:cNvPr id="0" name=""/>
        <dsp:cNvSpPr/>
      </dsp:nvSpPr>
      <dsp:spPr>
        <a:xfrm>
          <a:off x="4619415" y="651732"/>
          <a:ext cx="1385542" cy="72"/>
        </a:xfrm>
        <a:prstGeom prst="rect">
          <a:avLst/>
        </a:prstGeom>
        <a:solidFill>
          <a:schemeClr val="accent5">
            <a:tint val="40000"/>
            <a:alpha val="90000"/>
            <a:hueOff val="1499639"/>
            <a:satOff val="-12172"/>
            <a:lumOff val="-1324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499639"/>
              <a:satOff val="-12172"/>
              <a:lumOff val="-132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A50FA-E59B-4CCA-A0FF-D9BD6E4E874E}">
      <dsp:nvSpPr>
        <dsp:cNvPr id="0" name=""/>
        <dsp:cNvSpPr/>
      </dsp:nvSpPr>
      <dsp:spPr>
        <a:xfrm>
          <a:off x="6041905" y="600041"/>
          <a:ext cx="70816" cy="133012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1666266"/>
            <a:satOff val="-13524"/>
            <a:lumOff val="-1471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666266"/>
              <a:satOff val="-13524"/>
              <a:lumOff val="-147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8EC10-BDB1-4653-8026-4EC22C48516E}">
      <dsp:nvSpPr>
        <dsp:cNvPr id="0" name=""/>
        <dsp:cNvSpPr/>
      </dsp:nvSpPr>
      <dsp:spPr>
        <a:xfrm>
          <a:off x="5025508" y="365089"/>
          <a:ext cx="573356" cy="573356"/>
        </a:xfrm>
        <a:prstGeom prst="ellipse">
          <a:avLst/>
        </a:prstGeom>
        <a:gradFill rotWithShape="0">
          <a:gsLst>
            <a:gs pos="0">
              <a:schemeClr val="accent5">
                <a:hueOff val="1612420"/>
                <a:satOff val="-17425"/>
                <a:lumOff val="-5589"/>
                <a:alphaOff val="0"/>
                <a:tint val="96000"/>
                <a:lumMod val="104000"/>
              </a:schemeClr>
            </a:gs>
            <a:gs pos="100000">
              <a:schemeClr val="accent5">
                <a:hueOff val="1612420"/>
                <a:satOff val="-17425"/>
                <a:lumOff val="-5589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1612420"/>
              <a:satOff val="-17425"/>
              <a:lumOff val="-558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49" tIns="22249" rIns="22249" bIns="2224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</a:t>
          </a:r>
        </a:p>
      </dsp:txBody>
      <dsp:txXfrm>
        <a:off x="5109474" y="449055"/>
        <a:ext cx="405424" cy="405424"/>
      </dsp:txXfrm>
    </dsp:sp>
    <dsp:sp modelId="{3B782F7A-FFD6-437F-9FBC-2B4428838674}">
      <dsp:nvSpPr>
        <dsp:cNvPr id="0" name=""/>
        <dsp:cNvSpPr/>
      </dsp:nvSpPr>
      <dsp:spPr>
        <a:xfrm>
          <a:off x="4619415" y="1104046"/>
          <a:ext cx="13855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1832892"/>
            <a:satOff val="-14877"/>
            <a:lumOff val="-1619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832892"/>
              <a:satOff val="-14877"/>
              <a:lumOff val="-16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93" tIns="165100" rIns="10929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Retain high-value senior customers with loyalty programs.</a:t>
          </a:r>
        </a:p>
      </dsp:txBody>
      <dsp:txXfrm>
        <a:off x="4619415" y="1381154"/>
        <a:ext cx="1385542" cy="1688492"/>
      </dsp:txXfrm>
    </dsp:sp>
    <dsp:sp modelId="{2C8E8B8E-6CC2-41B2-A085-6EF360E4EF81}">
      <dsp:nvSpPr>
        <dsp:cNvPr id="0" name=""/>
        <dsp:cNvSpPr/>
      </dsp:nvSpPr>
      <dsp:spPr>
        <a:xfrm>
          <a:off x="6158907" y="651731"/>
          <a:ext cx="692771" cy="72"/>
        </a:xfrm>
        <a:prstGeom prst="rect">
          <a:avLst/>
        </a:prstGeom>
        <a:solidFill>
          <a:schemeClr val="accent5">
            <a:tint val="40000"/>
            <a:alpha val="90000"/>
            <a:hueOff val="1999519"/>
            <a:satOff val="-16229"/>
            <a:lumOff val="-176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999519"/>
              <a:satOff val="-16229"/>
              <a:lumOff val="-176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E2B83-DFFC-4E16-9AB8-F02E8F57BFE4}">
      <dsp:nvSpPr>
        <dsp:cNvPr id="0" name=""/>
        <dsp:cNvSpPr/>
      </dsp:nvSpPr>
      <dsp:spPr>
        <a:xfrm>
          <a:off x="6565000" y="365089"/>
          <a:ext cx="573356" cy="573356"/>
        </a:xfrm>
        <a:prstGeom prst="ellipse">
          <a:avLst/>
        </a:prstGeom>
        <a:gradFill rotWithShape="0">
          <a:gsLst>
            <a:gs pos="0">
              <a:schemeClr val="accent5">
                <a:hueOff val="2149893"/>
                <a:satOff val="-23233"/>
                <a:lumOff val="-7452"/>
                <a:alphaOff val="0"/>
                <a:tint val="96000"/>
                <a:lumMod val="104000"/>
              </a:schemeClr>
            </a:gs>
            <a:gs pos="100000">
              <a:schemeClr val="accent5">
                <a:hueOff val="2149893"/>
                <a:satOff val="-23233"/>
                <a:lumOff val="-7452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2149893"/>
              <a:satOff val="-23233"/>
              <a:lumOff val="-745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49" tIns="22249" rIns="22249" bIns="2224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</a:t>
          </a:r>
        </a:p>
      </dsp:txBody>
      <dsp:txXfrm>
        <a:off x="6648966" y="449055"/>
        <a:ext cx="405424" cy="405424"/>
      </dsp:txXfrm>
    </dsp:sp>
    <dsp:sp modelId="{46E6E174-1008-477D-B762-D7D086EDCBFA}">
      <dsp:nvSpPr>
        <dsp:cNvPr id="0" name=""/>
        <dsp:cNvSpPr/>
      </dsp:nvSpPr>
      <dsp:spPr>
        <a:xfrm>
          <a:off x="6158907" y="1104046"/>
          <a:ext cx="13855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2332772"/>
            <a:satOff val="-18934"/>
            <a:lumOff val="-206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2332772"/>
              <a:satOff val="-18934"/>
              <a:lumOff val="-20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93" tIns="165100" rIns="10929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5. Incentivize online payments to grow digital engagement.</a:t>
          </a:r>
        </a:p>
      </dsp:txBody>
      <dsp:txXfrm>
        <a:off x="6158907" y="1381154"/>
        <a:ext cx="1385542" cy="1688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98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0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3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5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6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244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9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428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92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16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0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04"/>
            <a:ext cx="1952272" cy="6853049"/>
            <a:chOff x="6627813" y="195650"/>
            <a:chExt cx="1952625" cy="5678101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65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6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FFA5E0-4C70-431D-A19D-18415F6C4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F13B1509-F8BD-AD99-8B3D-EA4D2C1E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67" r="2" b="2"/>
          <a:stretch>
            <a:fillRect/>
          </a:stretch>
        </p:blipFill>
        <p:spPr>
          <a:xfrm>
            <a:off x="20" y="10"/>
            <a:ext cx="9143978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BE55C11-4C41-45E4-A00F-83DEE6BB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3632297"/>
            <a:ext cx="5645712" cy="2170389"/>
          </a:xfrm>
          <a:custGeom>
            <a:avLst/>
            <a:gdLst>
              <a:gd name="connsiteX0" fmla="*/ 0 w 7527616"/>
              <a:gd name="connsiteY0" fmla="*/ 0 h 2170389"/>
              <a:gd name="connsiteX1" fmla="*/ 85411 w 7527616"/>
              <a:gd name="connsiteY1" fmla="*/ 0 h 2170389"/>
              <a:gd name="connsiteX2" fmla="*/ 926533 w 7527616"/>
              <a:gd name="connsiteY2" fmla="*/ 0 h 2170389"/>
              <a:gd name="connsiteX3" fmla="*/ 1114264 w 7527616"/>
              <a:gd name="connsiteY3" fmla="*/ 0 h 2170389"/>
              <a:gd name="connsiteX4" fmla="*/ 6544376 w 7527616"/>
              <a:gd name="connsiteY4" fmla="*/ 0 h 2170389"/>
              <a:gd name="connsiteX5" fmla="*/ 6610082 w 7527616"/>
              <a:gd name="connsiteY5" fmla="*/ 26276 h 2170389"/>
              <a:gd name="connsiteX6" fmla="*/ 6619468 w 7527616"/>
              <a:gd name="connsiteY6" fmla="*/ 36786 h 2170389"/>
              <a:gd name="connsiteX7" fmla="*/ 7506496 w 7527616"/>
              <a:gd name="connsiteY7" fmla="*/ 1024760 h 2170389"/>
              <a:gd name="connsiteX8" fmla="*/ 7506496 w 7527616"/>
              <a:gd name="connsiteY8" fmla="*/ 1140374 h 2170389"/>
              <a:gd name="connsiteX9" fmla="*/ 6619468 w 7527616"/>
              <a:gd name="connsiteY9" fmla="*/ 2133603 h 2170389"/>
              <a:gd name="connsiteX10" fmla="*/ 6610082 w 7527616"/>
              <a:gd name="connsiteY10" fmla="*/ 2144113 h 2170389"/>
              <a:gd name="connsiteX11" fmla="*/ 6544376 w 7527616"/>
              <a:gd name="connsiteY11" fmla="*/ 2170389 h 2170389"/>
              <a:gd name="connsiteX12" fmla="*/ 1114264 w 7527616"/>
              <a:gd name="connsiteY12" fmla="*/ 2170389 h 2170389"/>
              <a:gd name="connsiteX13" fmla="*/ 926533 w 7527616"/>
              <a:gd name="connsiteY13" fmla="*/ 2170389 h 2170389"/>
              <a:gd name="connsiteX14" fmla="*/ 146150 w 7527616"/>
              <a:gd name="connsiteY14" fmla="*/ 2170389 h 2170389"/>
              <a:gd name="connsiteX15" fmla="*/ 0 w 7527616"/>
              <a:gd name="connsiteY15" fmla="*/ 2170389 h 217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27616" h="2170389">
                <a:moveTo>
                  <a:pt x="0" y="0"/>
                </a:moveTo>
                <a:lnTo>
                  <a:pt x="85411" y="0"/>
                </a:lnTo>
                <a:cubicBezTo>
                  <a:pt x="290008" y="0"/>
                  <a:pt x="562804" y="0"/>
                  <a:pt x="926533" y="0"/>
                </a:cubicBezTo>
                <a:cubicBezTo>
                  <a:pt x="926533" y="0"/>
                  <a:pt x="926533" y="0"/>
                  <a:pt x="1114264" y="0"/>
                </a:cubicBezTo>
                <a:cubicBezTo>
                  <a:pt x="1114264" y="0"/>
                  <a:pt x="1114264" y="0"/>
                  <a:pt x="6544376" y="0"/>
                </a:cubicBezTo>
                <a:cubicBezTo>
                  <a:pt x="6567842" y="0"/>
                  <a:pt x="6591309" y="10510"/>
                  <a:pt x="6610082" y="26276"/>
                </a:cubicBezTo>
                <a:cubicBezTo>
                  <a:pt x="6614775" y="26276"/>
                  <a:pt x="6619468" y="31531"/>
                  <a:pt x="6619468" y="36786"/>
                </a:cubicBezTo>
                <a:cubicBezTo>
                  <a:pt x="6619468" y="36786"/>
                  <a:pt x="6619468" y="36786"/>
                  <a:pt x="7506496" y="1024760"/>
                </a:cubicBezTo>
                <a:cubicBezTo>
                  <a:pt x="7534656" y="1056291"/>
                  <a:pt x="7534656" y="1108843"/>
                  <a:pt x="7506496" y="1140374"/>
                </a:cubicBezTo>
                <a:cubicBezTo>
                  <a:pt x="7506496" y="1140374"/>
                  <a:pt x="7506496" y="1140374"/>
                  <a:pt x="6619468" y="2133603"/>
                </a:cubicBezTo>
                <a:cubicBezTo>
                  <a:pt x="6619468" y="2133603"/>
                  <a:pt x="6614775" y="2138858"/>
                  <a:pt x="6610082" y="2144113"/>
                </a:cubicBezTo>
                <a:cubicBezTo>
                  <a:pt x="6591309" y="2159879"/>
                  <a:pt x="6567842" y="2170389"/>
                  <a:pt x="6544376" y="2170389"/>
                </a:cubicBezTo>
                <a:cubicBezTo>
                  <a:pt x="6544376" y="2170389"/>
                  <a:pt x="6544376" y="2170389"/>
                  <a:pt x="1114264" y="2170389"/>
                </a:cubicBezTo>
                <a:cubicBezTo>
                  <a:pt x="1114264" y="2170389"/>
                  <a:pt x="1114264" y="2170389"/>
                  <a:pt x="926533" y="2170389"/>
                </a:cubicBezTo>
                <a:cubicBezTo>
                  <a:pt x="926533" y="2170389"/>
                  <a:pt x="926533" y="2170389"/>
                  <a:pt x="146150" y="2170389"/>
                </a:cubicBezTo>
                <a:lnTo>
                  <a:pt x="0" y="2170389"/>
                </a:lnTo>
                <a:close/>
              </a:path>
            </a:pathLst>
          </a:custGeom>
          <a:solidFill>
            <a:srgbClr val="775F38">
              <a:alpha val="8784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799" y="3962400"/>
            <a:ext cx="4090671" cy="958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solidFill>
                  <a:srgbClr val="FEFFFF"/>
                </a:solidFill>
              </a:rPr>
              <a:t>Credit Card Transaction &amp; Customer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99" y="4944531"/>
            <a:ext cx="4090671" cy="5249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>
                <a:solidFill>
                  <a:srgbClr val="FEFFFF"/>
                </a:solidFill>
              </a:rPr>
              <a:t>Prepared by Ashish Kumar</a:t>
            </a: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EFFFF"/>
                </a:solidFill>
              </a:rPr>
              <a:t>October 2025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7FAD-3509-EB6C-98AC-B6ACEBE9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297" y="511233"/>
            <a:ext cx="4916129" cy="1468800"/>
          </a:xfrm>
        </p:spPr>
        <p:txBody>
          <a:bodyPr>
            <a:normAutofit/>
          </a:bodyPr>
          <a:lstStyle/>
          <a:p>
            <a:r>
              <a:rPr lang="en-IN" sz="3800" b="1" dirty="0"/>
              <a:t>Objective of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87DCA-5ED6-0B8E-F07F-E1BDC9A9B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8271" y="2192595"/>
            <a:ext cx="4916129" cy="3549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To develop a comprehensive credit card weekly dashboard that provides real-time insights into key performance metrics and trends, enabling stakeholders to monitor and analyze credit card operations effectively.</a:t>
            </a:r>
            <a:endParaRPr lang="en-IN" sz="2400" dirty="0"/>
          </a:p>
        </p:txBody>
      </p:sp>
      <p:pic>
        <p:nvPicPr>
          <p:cNvPr id="47" name="Picture 46" descr="Camera lens close up">
            <a:extLst>
              <a:ext uri="{FF2B5EF4-FFF2-40B4-BE49-F238E27FC236}">
                <a16:creationId xmlns:a16="http://schemas.microsoft.com/office/drawing/2014/main" id="{1062D3D4-6DDE-0C91-62C2-6D8CA57DB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83" r="43846" b="-1"/>
          <a:stretch>
            <a:fillRect/>
          </a:stretch>
        </p:blipFill>
        <p:spPr>
          <a:xfrm>
            <a:off x="20" y="10"/>
            <a:ext cx="276076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5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696357-B315-4D9E-BB00-C5180F54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F6C6C-999D-43D5-AC07-AF342514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EC04F56B-9315-467D-9EEF-52DE7F0B5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800" dirty="0">
                <a:solidFill>
                  <a:srgbClr val="FE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>
                <a:solidFill>
                  <a:srgbClr val="FEFFFF"/>
                </a:solidFill>
              </a:rPr>
              <a:t>• Total Revenue: $55M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>
                <a:solidFill>
                  <a:srgbClr val="FEFFFF"/>
                </a:solidFill>
              </a:rPr>
              <a:t>• Total Income: $576M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>
                <a:solidFill>
                  <a:srgbClr val="FEFFFF"/>
                </a:solidFill>
              </a:rPr>
              <a:t>• Total Interest Earned: $7.84M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>
                <a:solidFill>
                  <a:srgbClr val="FEFFFF"/>
                </a:solidFill>
              </a:rPr>
              <a:t>• Total Transactions: 656K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US">
              <a:solidFill>
                <a:srgbClr val="FEFFFF"/>
              </a:solidFill>
            </a:endParaRP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>
                <a:solidFill>
                  <a:srgbClr val="FEFFFF"/>
                </a:solidFill>
              </a:rPr>
              <a:t>The credit card portfolio demonstrates stable performance with consistent quarterly revenue and transaction volumes.</a:t>
            </a:r>
          </a:p>
        </p:txBody>
      </p:sp>
      <p:pic>
        <p:nvPicPr>
          <p:cNvPr id="7" name="Graphic 6" descr="Financial">
            <a:extLst>
              <a:ext uri="{FF2B5EF4-FFF2-40B4-BE49-F238E27FC236}">
                <a16:creationId xmlns:a16="http://schemas.microsoft.com/office/drawing/2014/main" id="{EF2374F7-58EF-E92A-0A08-6224B7C1F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400">
                <a:solidFill>
                  <a:schemeClr val="bg1"/>
                </a:solidFill>
              </a:rPr>
              <a:t>Quarterly Performance Overview</a:t>
            </a:r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BBDED662-16B7-E7FC-8EE7-EB6099D01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864548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1465790"/>
            <a:ext cx="2895599" cy="3941345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3600"/>
              <a:t>Revenue by Expenditure Type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813299" y="1359090"/>
            <a:ext cx="3849499" cy="4048046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Bills: $14M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Entertainment: $10M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Fuel: $9M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Grocery: $9M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Food: $8M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• Travel: $6M</a:t>
            </a:r>
          </a:p>
          <a:p>
            <a:pPr marL="0" indent="0">
              <a:buNone/>
              <a:defRPr sz="1800">
                <a:latin typeface="Calibri"/>
              </a:defRPr>
            </a:pPr>
            <a:endParaRPr sz="1800"/>
          </a:p>
          <a:p>
            <a:pPr marL="0" indent="0">
              <a:buNone/>
              <a:defRPr sz="1800">
                <a:latin typeface="Calibri"/>
              </a:defRPr>
            </a:pPr>
            <a:r>
              <a:rPr sz="1800"/>
              <a:t>Bills and Entertainment dominate spending categories, indicating strong engagement in essential and lifestyle expenses.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CBB2-6794-D16A-1E0C-3253BDEE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by Customer Profile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C06C0-777D-4B72-903B-05AEC228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79558"/>
            <a:ext cx="1880419" cy="923330"/>
          </a:xfrm>
        </p:spPr>
        <p:txBody>
          <a:bodyPr/>
          <a:lstStyle/>
          <a:p>
            <a:r>
              <a:rPr lang="en-IN" dirty="0"/>
              <a:t>Education: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B1431-DCE7-AA35-DACC-00757568D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232041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Graduate: $22M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High School: $11M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Uneducated: $8M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Post-Graduate: $3M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Doctorate: $2M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15020-80D4-5C32-8D39-4C9C46579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1795" y="1518770"/>
            <a:ext cx="1880420" cy="1224430"/>
          </a:xfrm>
        </p:spPr>
        <p:txBody>
          <a:bodyPr/>
          <a:lstStyle/>
          <a:p>
            <a:r>
              <a:rPr lang="en-US" dirty="0"/>
              <a:t>Job Type: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443C6-6AD5-5D83-24F9-AED46EF6E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232041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Businessman: $17M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White-Collar: $10M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Self-employed: $8M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Govt: $8M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Blue-Collar: $7M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dirty="0"/>
              <a:t>• Retirees: $5M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D91B6-9AA9-9E08-99DC-62F0D91A0848}"/>
              </a:ext>
            </a:extLst>
          </p:cNvPr>
          <p:cNvSpPr txBox="1"/>
          <p:nvPr/>
        </p:nvSpPr>
        <p:spPr>
          <a:xfrm>
            <a:off x="685800" y="5053781"/>
            <a:ext cx="7457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Graduates and Businessmen form the most profitable customer segments.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74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724" y="624109"/>
            <a:ext cx="1865376" cy="5614951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US" sz="2800"/>
              <a:t>Revenue by Card Category &amp; Transaction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5012" y="624110"/>
            <a:ext cx="5103447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Blue Card: $46M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Silver Card: $6M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Gold Card: $2M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Platinum Card: $1M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Transaction Mode:</a:t>
            </a:r>
          </a:p>
          <a:p>
            <a:pPr marL="0" indent="0">
              <a:lnSpc>
                <a:spcPct val="90000"/>
              </a:lnSpc>
              <a:buNone/>
              <a:defRPr sz="1800">
                <a:latin typeface="Calibri"/>
              </a:defRPr>
            </a:pPr>
            <a:r>
              <a:rPr lang="en-US" sz="1400" dirty="0"/>
              <a:t>         • Swipe: $35M</a:t>
            </a:r>
          </a:p>
          <a:p>
            <a:pPr marL="0" indent="0">
              <a:lnSpc>
                <a:spcPct val="90000"/>
              </a:lnSpc>
              <a:buNone/>
              <a:defRPr sz="1800">
                <a:latin typeface="Calibri"/>
              </a:defRPr>
            </a:pPr>
            <a:r>
              <a:rPr lang="en-US" sz="1400" dirty="0"/>
              <a:t>         • Chip: $17M</a:t>
            </a:r>
          </a:p>
          <a:p>
            <a:pPr marL="0" indent="0">
              <a:lnSpc>
                <a:spcPct val="90000"/>
              </a:lnSpc>
              <a:buNone/>
              <a:defRPr sz="1800">
                <a:latin typeface="Calibri"/>
              </a:defRPr>
            </a:pPr>
            <a:r>
              <a:rPr lang="en-US" sz="1400" dirty="0"/>
              <a:t>         • Online: $3M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400" dirty="0"/>
              <a:t>Blue Cards dominate revenue, showing preference for standard-tier cards with physical transactions.</a:t>
            </a:r>
          </a:p>
        </p:txBody>
      </p:sp>
      <p:pic>
        <p:nvPicPr>
          <p:cNvPr id="18" name="Graphic 17" descr="Gold bars">
            <a:extLst>
              <a:ext uri="{FF2B5EF4-FFF2-40B4-BE49-F238E27FC236}">
                <a16:creationId xmlns:a16="http://schemas.microsoft.com/office/drawing/2014/main" id="{CF1C0FA5-97B1-CF18-B15D-D5D6A6402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989" y="4553084"/>
            <a:ext cx="1685977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40B25D7-D3C3-2B2D-B0F4-6C5A4D12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86" t="9091" r="1993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9" name="Freeform 5">
            <a:extLst>
              <a:ext uri="{FF2B5EF4-FFF2-40B4-BE49-F238E27FC236}">
                <a16:creationId xmlns:a16="http://schemas.microsoft.com/office/drawing/2014/main" id="{FDAA37B6-540E-4805-AC2B-B91E6D6D1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626533"/>
            <a:ext cx="5346700" cy="1278467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800" b="1">
                <a:solidFill>
                  <a:srgbClr val="FEFFFF"/>
                </a:solidFill>
              </a:rPr>
              <a:t>Revenue by Income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1" y="2133599"/>
            <a:ext cx="5619750" cy="3809999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US" dirty="0">
                <a:solidFill>
                  <a:srgbClr val="FEFFFF"/>
                </a:solidFill>
              </a:rPr>
              <a:t>High Income: $7M</a:t>
            </a:r>
          </a:p>
          <a:p>
            <a:pPr>
              <a:defRPr sz="1800">
                <a:latin typeface="Calibri"/>
              </a:defRPr>
            </a:pPr>
            <a:r>
              <a:rPr lang="en-US" dirty="0">
                <a:solidFill>
                  <a:srgbClr val="FEFFFF"/>
                </a:solidFill>
              </a:rPr>
              <a:t>Medium Income: $8M</a:t>
            </a:r>
          </a:p>
          <a:p>
            <a:pPr>
              <a:defRPr sz="1800">
                <a:latin typeface="Calibri"/>
              </a:defRPr>
            </a:pPr>
            <a:r>
              <a:rPr lang="en-US" dirty="0">
                <a:solidFill>
                  <a:srgbClr val="FEFFFF"/>
                </a:solidFill>
              </a:rPr>
              <a:t> Low Income: $10M</a:t>
            </a:r>
          </a:p>
          <a:p>
            <a:pPr>
              <a:defRPr sz="1800">
                <a:latin typeface="Calibri"/>
              </a:defRPr>
            </a:pPr>
            <a:endParaRPr lang="en-US" dirty="0">
              <a:solidFill>
                <a:srgbClr val="FEFFFF"/>
              </a:solidFill>
            </a:endParaRP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2000" b="1" dirty="0">
                <a:solidFill>
                  <a:srgbClr val="FEFFFF"/>
                </a:solidFill>
              </a:rPr>
              <a:t>Low-income customers contribute most to revenue, showing dependency on credit for everyday expenses.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 dirty="0"/>
              <a:t>Customer Demographics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1149203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276" y="1059872"/>
            <a:ext cx="4668183" cy="48513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1800">
                <a:latin typeface="Calibri"/>
              </a:defRPr>
            </a:pPr>
            <a:r>
              <a:rPr b="1" dirty="0"/>
              <a:t>Age Group Revenue:</a:t>
            </a:r>
          </a:p>
          <a:p>
            <a:pPr>
              <a:defRPr sz="1800">
                <a:latin typeface="Calibri"/>
              </a:defRPr>
            </a:pPr>
            <a:r>
              <a:rPr dirty="0"/>
              <a:t>20–30: $4M | 30–40: $11M | 40–50: $9M | 50–60: $5M | 60+: $14M</a:t>
            </a:r>
          </a:p>
          <a:p>
            <a:pPr>
              <a:buFont typeface="Wingdings" panose="05000000000000000000" pitchFamily="2" charset="2"/>
              <a:buChar char="Ø"/>
              <a:defRPr sz="1800">
                <a:latin typeface="Calibri"/>
              </a:defRPr>
            </a:pPr>
            <a:r>
              <a:rPr b="1" dirty="0"/>
              <a:t>Gender: </a:t>
            </a:r>
            <a:r>
              <a:rPr dirty="0"/>
              <a:t>Nearly balanced revenue between male and female.</a:t>
            </a:r>
          </a:p>
          <a:p>
            <a:pPr>
              <a:buFont typeface="Wingdings" panose="05000000000000000000" pitchFamily="2" charset="2"/>
              <a:buChar char="Ø"/>
              <a:defRPr sz="1800">
                <a:latin typeface="Calibri"/>
              </a:defRPr>
            </a:pPr>
            <a:r>
              <a:rPr b="1" dirty="0"/>
              <a:t>Top States: </a:t>
            </a:r>
            <a:r>
              <a:rPr dirty="0"/>
              <a:t>TX, NY, CA, FL, NJ</a:t>
            </a:r>
          </a:p>
          <a:p>
            <a:pPr>
              <a:buFont typeface="Wingdings" panose="05000000000000000000" pitchFamily="2" charset="2"/>
              <a:buChar char="Ø"/>
              <a:defRPr sz="1800">
                <a:latin typeface="Calibri"/>
              </a:defRPr>
            </a:pPr>
            <a:r>
              <a:rPr b="1" dirty="0"/>
              <a:t>Marital Status: </a:t>
            </a:r>
            <a:r>
              <a:rPr dirty="0"/>
              <a:t>Married – $13M | Single – $11M | Unknown – $15M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 marL="0" indent="0">
              <a:buNone/>
              <a:defRPr sz="1800">
                <a:latin typeface="Calibri"/>
              </a:defRPr>
            </a:pPr>
            <a:r>
              <a:rPr sz="2000" b="1" dirty="0"/>
              <a:t>Older customers (60+) show the highest spend levels, indicating a financially secure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800">
                <a:solidFill>
                  <a:schemeClr val="bg1"/>
                </a:solidFill>
              </a:rPr>
              <a:t>Key Insights &amp; Trends</a:t>
            </a:r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C365B082-E7B3-86A0-8A1E-1D94E5221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878028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376313-492A-2E5A-1EBE-58083F06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5" y="624110"/>
            <a:ext cx="7207045" cy="890058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Insights- Week 53 (31st Dec)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A4AE9-35E6-7BE8-BD67-B3D406B36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14168"/>
            <a:ext cx="7924800" cy="29005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Overview YTD: </a:t>
            </a:r>
          </a:p>
          <a:p>
            <a:pPr marL="0" indent="0">
              <a:buNone/>
            </a:pPr>
            <a:r>
              <a:rPr lang="en-US" dirty="0"/>
              <a:t>• Overall revenue is 57M </a:t>
            </a:r>
          </a:p>
          <a:p>
            <a:pPr marL="0" indent="0">
              <a:buNone/>
            </a:pPr>
            <a:r>
              <a:rPr lang="en-US" dirty="0"/>
              <a:t>• Total interest is 8M </a:t>
            </a:r>
          </a:p>
          <a:p>
            <a:pPr marL="0" indent="0">
              <a:buNone/>
            </a:pPr>
            <a:r>
              <a:rPr lang="en-US" dirty="0"/>
              <a:t>• Total transaction amount is 46M </a:t>
            </a:r>
          </a:p>
          <a:p>
            <a:pPr marL="0" indent="0">
              <a:buNone/>
            </a:pPr>
            <a:r>
              <a:rPr lang="en-US" dirty="0"/>
              <a:t>• Male customers are contributing more in revenue 31M, female 26M</a:t>
            </a:r>
          </a:p>
          <a:p>
            <a:pPr marL="0" indent="0">
              <a:buNone/>
            </a:pPr>
            <a:r>
              <a:rPr lang="en-US" dirty="0"/>
              <a:t>• Blue &amp; Silver credit card are contributing to 93% of overall transactions </a:t>
            </a:r>
          </a:p>
          <a:p>
            <a:pPr marL="0" indent="0">
              <a:buNone/>
            </a:pPr>
            <a:r>
              <a:rPr lang="en-US" dirty="0"/>
              <a:t>• TX, NY &amp; CA is contributing to 68% </a:t>
            </a:r>
          </a:p>
          <a:p>
            <a:pPr marL="0" indent="0">
              <a:buNone/>
            </a:pPr>
            <a:r>
              <a:rPr lang="en-US" dirty="0"/>
              <a:t>• Overall Activation rate is 57.5% </a:t>
            </a:r>
          </a:p>
          <a:p>
            <a:pPr marL="0" indent="0">
              <a:buNone/>
            </a:pPr>
            <a:r>
              <a:rPr lang="en-US" dirty="0"/>
              <a:t>• Overall Delinquent rate is 6.06%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908EE-0FD1-FA5B-A177-E6886C7E7B42}"/>
              </a:ext>
            </a:extLst>
          </p:cNvPr>
          <p:cNvSpPr txBox="1"/>
          <p:nvPr/>
        </p:nvSpPr>
        <p:spPr>
          <a:xfrm>
            <a:off x="1504335" y="4817806"/>
            <a:ext cx="6469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WoW change:</a:t>
            </a:r>
            <a:r>
              <a:rPr lang="en-US" sz="1500" dirty="0"/>
              <a:t> </a:t>
            </a:r>
          </a:p>
          <a:p>
            <a:r>
              <a:rPr lang="en-US" sz="1500" dirty="0"/>
              <a:t>• Revenue increased by 28.8%, </a:t>
            </a:r>
          </a:p>
        </p:txBody>
      </p:sp>
    </p:spTree>
    <p:extLst>
      <p:ext uri="{BB962C8B-B14F-4D97-AF65-F5344CB8AC3E}">
        <p14:creationId xmlns:p14="http://schemas.microsoft.com/office/powerpoint/2010/main" val="630559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E1A71F-2664-4E38-A47B-A6F74A66A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5A2202-3CDB-4BEB-B357-591207B19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AD441E9-6D75-456C-B0AE-40B2012E1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9B1D17-5793-F1F2-ABD7-B1C439CCA2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219539"/>
              </p:ext>
            </p:extLst>
          </p:nvPr>
        </p:nvGraphicFramePr>
        <p:xfrm>
          <a:off x="720759" y="2458065"/>
          <a:ext cx="7699339" cy="343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FF851-C196-9BA2-7304-3388A49B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696357-B315-4D9E-BB00-C5180F54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2F6C6C-999D-43D5-AC07-AF3425144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EC04F56B-9315-467D-9EEF-52DE7F0B5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F3497-A67E-33DC-D5F4-6A076927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400" b="1" dirty="0"/>
              <a:t>1. Product &amp; Portfolio Strategy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86620926-573C-8B46-A41D-11F9BA6B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Upsell premium cards </a:t>
            </a:r>
            <a:r>
              <a:rPr lang="en-US" dirty="0">
                <a:solidFill>
                  <a:srgbClr val="FEFFFF"/>
                </a:solidFill>
              </a:rPr>
              <a:t>— Encourage Blue and Silver cardholders (who contribute 90%+ of revenue) to upgrade to Gold/Platinum through cashback, bonus reward points, or airport lounge access.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Develop segment-based cards </a:t>
            </a:r>
            <a:r>
              <a:rPr lang="en-US" dirty="0">
                <a:solidFill>
                  <a:srgbClr val="FEFFFF"/>
                </a:solidFill>
              </a:rPr>
              <a:t>— Introduce category-specific cards (e.g., “Fuel Saver Card,” “Entertainment Rewards Card”) to deepen loyalty in high-spending segments.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Balance card mix </a:t>
            </a:r>
            <a:r>
              <a:rPr lang="en-US" dirty="0">
                <a:solidFill>
                  <a:srgbClr val="FEFFFF"/>
                </a:solidFill>
              </a:rPr>
              <a:t>— Diversify the portfolio by increasing adoption of premium cards to enhance average revenue per user (ARPU).</a:t>
            </a:r>
            <a:endParaRPr lang="en-IN" dirty="0">
              <a:solidFill>
                <a:srgbClr val="FEFFFF"/>
              </a:solidFill>
            </a:endParaRPr>
          </a:p>
        </p:txBody>
      </p:sp>
      <p:pic>
        <p:nvPicPr>
          <p:cNvPr id="26" name="Graphic 25" descr="Diamond">
            <a:extLst>
              <a:ext uri="{FF2B5EF4-FFF2-40B4-BE49-F238E27FC236}">
                <a16:creationId xmlns:a16="http://schemas.microsoft.com/office/drawing/2014/main" id="{D1A3397F-485D-7F2C-2D2F-148C5E45E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6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39DB3-8912-E198-6D78-C806DA4C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9080D39-303A-7910-1C88-216987951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B48212-D73F-87CF-8C7F-D3B74BCDF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E6F35729-C60C-283F-1BE5-271A7D17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238F4-636F-6C81-513B-0D06A8A3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400" b="1" dirty="0"/>
              <a:t>2. Customer Engagement &amp; Retention</a:t>
            </a:r>
            <a:endParaRPr lang="en-IN" sz="2400" b="1" dirty="0">
              <a:solidFill>
                <a:srgbClr val="FEFFFF"/>
              </a:solidFill>
            </a:endParaRP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5A4F2A4C-FBFC-26D5-3518-FAD40571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Senior citizen programs </a:t>
            </a:r>
            <a:r>
              <a:rPr lang="en-US" dirty="0">
                <a:solidFill>
                  <a:srgbClr val="FEFFFF"/>
                </a:solidFill>
              </a:rPr>
              <a:t>— Launch exclusive offers in healthcare, travel, and dining for customers aged 60+, the group with the highest spending ($14M).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Retention campaigns for low-income users </a:t>
            </a:r>
            <a:r>
              <a:rPr lang="en-US" dirty="0">
                <a:solidFill>
                  <a:srgbClr val="FEFFFF"/>
                </a:solidFill>
              </a:rPr>
              <a:t>— Offer financial literacy content and EMI flexibility to maintain this high-utilization segment.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Loyalty &amp; rewards optimization </a:t>
            </a:r>
            <a:r>
              <a:rPr lang="en-US" dirty="0">
                <a:solidFill>
                  <a:srgbClr val="FEFFFF"/>
                </a:solidFill>
              </a:rPr>
              <a:t>— Simplify reward redemption and offer personalized deals based on usage patterns (Bills, Entertainment, Groceries).</a:t>
            </a:r>
            <a:endParaRPr lang="en-IN" dirty="0">
              <a:solidFill>
                <a:srgbClr val="FEFFFF"/>
              </a:solidFill>
            </a:endParaRPr>
          </a:p>
        </p:txBody>
      </p:sp>
      <p:pic>
        <p:nvPicPr>
          <p:cNvPr id="26" name="Graphic 25" descr="Diamond">
            <a:extLst>
              <a:ext uri="{FF2B5EF4-FFF2-40B4-BE49-F238E27FC236}">
                <a16:creationId xmlns:a16="http://schemas.microsoft.com/office/drawing/2014/main" id="{E3FB2F52-3939-B32A-8873-3FEBB8B17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85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D7EF3-0BBF-7A7E-FAF4-5608E3DB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67CD46-DD8D-8AE5-381C-29B95F11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14E00A-A5C7-B15B-C99B-2D8A47D6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280477E8-2F21-F77F-15AF-B12C9CA87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F056F-CDBB-4675-A641-8F80A953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400" b="1" dirty="0"/>
              <a:t>3. Digital Transformation</a:t>
            </a:r>
            <a:endParaRPr lang="en-IN" sz="2400" b="1" dirty="0">
              <a:solidFill>
                <a:srgbClr val="FEFFFF"/>
              </a:solidFill>
            </a:endParaRP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E16D9A8-B02B-D1AE-E5C2-57DCBE3C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Promote online transactions </a:t>
            </a:r>
            <a:r>
              <a:rPr lang="en-US" dirty="0">
                <a:solidFill>
                  <a:srgbClr val="FEFFFF"/>
                </a:solidFill>
              </a:rPr>
              <a:t>— Introduce cashback or discounts for online purchases to increase the digital payment share (currently only $3M).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Leverage analytics </a:t>
            </a:r>
            <a:r>
              <a:rPr lang="en-US" dirty="0">
                <a:solidFill>
                  <a:srgbClr val="FEFFFF"/>
                </a:solidFill>
              </a:rPr>
              <a:t>— Use AI/ML-based insights to identify dormant users and trigger reactivation campaigns through personalized offers.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Mobile-first engagement </a:t>
            </a:r>
            <a:r>
              <a:rPr lang="en-US" dirty="0">
                <a:solidFill>
                  <a:srgbClr val="FEFFFF"/>
                </a:solidFill>
              </a:rPr>
              <a:t>— Expand app-based management and notifications for spend tracking, limits, and rewards.</a:t>
            </a:r>
            <a:endParaRPr lang="en-IN" dirty="0">
              <a:solidFill>
                <a:srgbClr val="FEFFFF"/>
              </a:solidFill>
            </a:endParaRPr>
          </a:p>
        </p:txBody>
      </p:sp>
      <p:pic>
        <p:nvPicPr>
          <p:cNvPr id="26" name="Graphic 25" descr="Diamond">
            <a:extLst>
              <a:ext uri="{FF2B5EF4-FFF2-40B4-BE49-F238E27FC236}">
                <a16:creationId xmlns:a16="http://schemas.microsoft.com/office/drawing/2014/main" id="{ABFF73E1-3635-DBD7-DEF8-4F4D5F317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2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F3DEA-AA91-894D-4682-44A75D7A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6C5CDD3-DCB2-A09F-0C4D-2BE15F928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BE050F-80BD-CAF5-6727-9085E71B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6DFBDF2E-58B5-F6A6-0377-9CB31B563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DF85F-ABAE-AED7-B535-235C6351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400" b="1" dirty="0"/>
              <a:t>4. Marketing &amp; Cross-Selling</a:t>
            </a:r>
            <a:endParaRPr lang="en-IN" sz="2400" b="1" dirty="0">
              <a:solidFill>
                <a:srgbClr val="FEFFFF"/>
              </a:solidFill>
            </a:endParaRP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B067480D-83E5-0D94-6AE0-4B884208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2032000"/>
            <a:ext cx="5138995" cy="4038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Targeted campaigns </a:t>
            </a:r>
            <a:r>
              <a:rPr lang="en-US" dirty="0">
                <a:solidFill>
                  <a:srgbClr val="FEFFFF"/>
                </a:solidFill>
              </a:rPr>
              <a:t>— Focus marketing on high-revenue geographies (TX, NY, CA, FL, NJ) and segments like Businessmen and Graduates.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Cross-sell financial products </a:t>
            </a:r>
            <a:r>
              <a:rPr lang="en-US" dirty="0">
                <a:solidFill>
                  <a:srgbClr val="FEFFFF"/>
                </a:solidFill>
              </a:rPr>
              <a:t>— Offer insurance, EMI plans, or personal loans to low-income and frequent spenders.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EFFFF"/>
                </a:solidFill>
              </a:rPr>
              <a:t>Referral bonuses </a:t>
            </a:r>
            <a:r>
              <a:rPr lang="en-US" dirty="0">
                <a:solidFill>
                  <a:srgbClr val="FEFFFF"/>
                </a:solidFill>
              </a:rPr>
              <a:t>— Encourage existing customers to bring in new users with limited-time referral rewards.</a:t>
            </a:r>
            <a:endParaRPr lang="en-IN" dirty="0">
              <a:solidFill>
                <a:srgbClr val="FEFFFF"/>
              </a:solidFill>
            </a:endParaRPr>
          </a:p>
        </p:txBody>
      </p:sp>
      <p:pic>
        <p:nvPicPr>
          <p:cNvPr id="26" name="Graphic 25" descr="Diamond">
            <a:extLst>
              <a:ext uri="{FF2B5EF4-FFF2-40B4-BE49-F238E27FC236}">
                <a16:creationId xmlns:a16="http://schemas.microsoft.com/office/drawing/2014/main" id="{FE8ED24C-EA99-468F-4BBA-DA709346D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792" y="2837523"/>
            <a:ext cx="2251449" cy="22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4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96802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8" y="-786"/>
            <a:ext cx="2242138" cy="6854040"/>
            <a:chOff x="6627813" y="194833"/>
            <a:chExt cx="1952625" cy="5678918"/>
          </a:xfrm>
          <a:solidFill>
            <a:schemeClr val="bg2">
              <a:alpha val="80000"/>
            </a:schemeClr>
          </a:solidFill>
        </p:grpSpPr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792" y="1093380"/>
            <a:ext cx="2301136" cy="4671240"/>
          </a:xfrm>
        </p:spPr>
        <p:txBody>
          <a:bodyPr anchor="ctr">
            <a:normAutofit/>
          </a:bodyPr>
          <a:lstStyle/>
          <a:p>
            <a:pPr algn="r">
              <a:defRPr sz="1800">
                <a:latin typeface="Calibri"/>
              </a:defRPr>
            </a:pPr>
            <a:r>
              <a:rPr lang="en-IN" sz="1800"/>
              <a:t>Conclusion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4131" y="1093380"/>
            <a:ext cx="4664328" cy="4679250"/>
          </a:xfrm>
        </p:spPr>
        <p:txBody>
          <a:bodyPr anchor="ctr">
            <a:normAutofit/>
          </a:bodyPr>
          <a:lstStyle/>
          <a:p>
            <a:pPr>
              <a:defRPr sz="1800">
                <a:latin typeface="Calibri"/>
              </a:defRPr>
            </a:pPr>
            <a:r>
              <a:t>The portfolio exhibits healthy revenue diversification with dominance from Blue cardholders and middle-aged, educated users. To further scale beyond the $55M revenue base, focus should shift to expanding digital payments, introducing targeted loyalty programs, and improving engagement for high-potential segments like low-income and senior users.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1505</TotalTime>
  <Words>987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Wingdings</vt:lpstr>
      <vt:lpstr>Wingdings 3</vt:lpstr>
      <vt:lpstr>Wisp</vt:lpstr>
      <vt:lpstr>Credit Card Transaction &amp; Customer Analysis Report</vt:lpstr>
      <vt:lpstr>Objective of the Project</vt:lpstr>
      <vt:lpstr>Summary</vt:lpstr>
      <vt:lpstr>Quarterly Performance Overview</vt:lpstr>
      <vt:lpstr>Revenue by Expenditure Type</vt:lpstr>
      <vt:lpstr>Revenue by Customer Profile</vt:lpstr>
      <vt:lpstr>Revenue by Card Category &amp; Transaction Type</vt:lpstr>
      <vt:lpstr>Revenue by Income Group</vt:lpstr>
      <vt:lpstr>Customer Demographics</vt:lpstr>
      <vt:lpstr>Key Insights &amp; Trends</vt:lpstr>
      <vt:lpstr>Project Insights- Week 53 (31st Dec)</vt:lpstr>
      <vt:lpstr>Recommendations</vt:lpstr>
      <vt:lpstr>1. Product &amp; Portfolio Strategy</vt:lpstr>
      <vt:lpstr>2. Customer Engagement &amp; Retention</vt:lpstr>
      <vt:lpstr>3. Digital Transformation</vt:lpstr>
      <vt:lpstr>4. Marketing &amp; Cross-Selling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Kumar</cp:lastModifiedBy>
  <cp:revision>2</cp:revision>
  <dcterms:created xsi:type="dcterms:W3CDTF">2013-01-27T09:14:16Z</dcterms:created>
  <dcterms:modified xsi:type="dcterms:W3CDTF">2025-10-28T01:26:20Z</dcterms:modified>
  <cp:category/>
</cp:coreProperties>
</file>